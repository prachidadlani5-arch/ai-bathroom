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</p:embeddedFont>
    <p:embeddedFont>
      <p:font typeface="STIX Two Text" panose="020B0604020202020204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39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83806" y="1197185"/>
            <a:ext cx="163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0D1116"/>
                </a:solidFill>
                <a:latin typeface="Roboto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0193" y="119718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1958578" y="1654388"/>
            <a:ext cx="5226843" cy="1682323"/>
            <a:chOff x="1958578" y="1654388"/>
            <a:chExt cx="5226843" cy="1682323"/>
          </a:xfrm>
        </p:grpSpPr>
        <p:sp>
          <p:nvSpPr>
            <p:cNvPr id="5" name="TextBox 4"/>
            <p:cNvSpPr txBox="1"/>
            <p:nvPr/>
          </p:nvSpPr>
          <p:spPr>
            <a:xfrm>
              <a:off x="1566565" y="1654388"/>
              <a:ext cx="6010869" cy="560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300" b="1">
                  <a:solidFill>
                    <a:srgbClr val="0D1116"/>
                  </a:solidFill>
                  <a:latin typeface="STIX Two Text"/>
                </a:rPr>
                <a:t>KOHLER AI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66565" y="2215124"/>
              <a:ext cx="6010869" cy="56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300" b="1">
                  <a:solidFill>
                    <a:srgbClr val="0D1116"/>
                  </a:solidFill>
                  <a:latin typeface="STIX Two Text"/>
                </a:rPr>
                <a:t>Bathroom Designer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66565" y="2775956"/>
              <a:ext cx="6010869" cy="560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300" b="1">
                  <a:solidFill>
                    <a:srgbClr val="0D1116"/>
                  </a:solidFill>
                  <a:latin typeface="STIX Two Text"/>
                </a:rPr>
                <a:t>&amp; Planner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24050" y="3527214"/>
            <a:ext cx="5295900" cy="457200"/>
            <a:chOff x="1924050" y="3527214"/>
            <a:chExt cx="5295900" cy="457200"/>
          </a:xfrm>
        </p:grpSpPr>
        <p:sp>
          <p:nvSpPr>
            <p:cNvPr id="9" name="TextBox 8"/>
            <p:cNvSpPr txBox="1"/>
            <p:nvPr/>
          </p:nvSpPr>
          <p:spPr>
            <a:xfrm>
              <a:off x="1526858" y="3527214"/>
              <a:ext cx="6090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0D1116"/>
                  </a:solidFill>
                  <a:latin typeface="STIX Two Text"/>
                </a:rPr>
                <a:t>Constraint-Aware Personalized Bathroom Design with Interactive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6858" y="3755814"/>
              <a:ext cx="6090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0D1116"/>
                  </a:solidFill>
                  <a:latin typeface="STIX Two Text"/>
                </a:rPr>
                <a:t>3D Visualization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51017" y="606442"/>
            <a:ext cx="58416" cy="1494412"/>
            <a:chOff x="1051017" y="606442"/>
            <a:chExt cx="58416" cy="1494412"/>
          </a:xfrm>
        </p:grpSpPr>
        <p:sp>
          <p:nvSpPr>
            <p:cNvPr id="2" name="Rounded Rectangle 1"/>
            <p:cNvSpPr/>
            <p:nvPr/>
          </p:nvSpPr>
          <p:spPr>
            <a:xfrm>
              <a:off x="1080230" y="666367"/>
              <a:ext cx="9525" cy="1374552"/>
            </a:xfrm>
            <a:custGeom>
              <a:avLst/>
              <a:gdLst/>
              <a:ahLst/>
              <a:cxnLst/>
              <a:rect l="0" t="0" r="0" b="0"/>
              <a:pathLst>
                <a:path w="9525" h="1374552">
                  <a:moveTo>
                    <a:pt x="0" y="0"/>
                  </a:moveTo>
                  <a:lnTo>
                    <a:pt x="0" y="1374552"/>
                  </a:lnTo>
                </a:path>
              </a:pathLst>
            </a:custGeom>
            <a:noFill/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051017" y="606442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51017" y="2039107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819320" y="795339"/>
            <a:ext cx="58416" cy="1313065"/>
            <a:chOff x="2819320" y="795339"/>
            <a:chExt cx="58416" cy="1313065"/>
          </a:xfrm>
        </p:grpSpPr>
        <p:sp>
          <p:nvSpPr>
            <p:cNvPr id="6" name="Rounded Rectangle 5"/>
            <p:cNvSpPr/>
            <p:nvPr/>
          </p:nvSpPr>
          <p:spPr>
            <a:xfrm>
              <a:off x="2848533" y="855264"/>
              <a:ext cx="9525" cy="1193292"/>
            </a:xfrm>
            <a:custGeom>
              <a:avLst/>
              <a:gdLst/>
              <a:ahLst/>
              <a:cxnLst/>
              <a:rect l="0" t="0" r="0" b="0"/>
              <a:pathLst>
                <a:path w="9525" h="1193292">
                  <a:moveTo>
                    <a:pt x="0" y="0"/>
                  </a:moveTo>
                  <a:lnTo>
                    <a:pt x="0" y="1193292"/>
                  </a:lnTo>
                </a:path>
              </a:pathLst>
            </a:custGeom>
            <a:noFill/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19320" y="795339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19320" y="2046657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1080230" y="2218090"/>
            <a:ext cx="825207" cy="707316"/>
          </a:xfrm>
          <a:custGeom>
            <a:avLst/>
            <a:gdLst/>
            <a:ahLst/>
            <a:cxnLst/>
            <a:rect l="0" t="0" r="0" b="0"/>
            <a:pathLst>
              <a:path w="825207" h="707316">
                <a:moveTo>
                  <a:pt x="648376" y="0"/>
                </a:moveTo>
                <a:lnTo>
                  <a:pt x="0" y="0"/>
                </a:lnTo>
                <a:lnTo>
                  <a:pt x="176831" y="353663"/>
                </a:lnTo>
                <a:lnTo>
                  <a:pt x="0" y="707316"/>
                </a:lnTo>
                <a:lnTo>
                  <a:pt x="648376" y="707316"/>
                </a:lnTo>
                <a:lnTo>
                  <a:pt x="825207" y="353663"/>
                </a:lnTo>
                <a:lnTo>
                  <a:pt x="648376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80230" y="2218090"/>
            <a:ext cx="825207" cy="707321"/>
          </a:xfrm>
          <a:custGeom>
            <a:avLst/>
            <a:gdLst/>
            <a:ahLst/>
            <a:cxnLst/>
            <a:rect l="0" t="0" r="0" b="0"/>
            <a:pathLst>
              <a:path w="825207" h="707321">
                <a:moveTo>
                  <a:pt x="648377" y="0"/>
                </a:moveTo>
                <a:lnTo>
                  <a:pt x="0" y="0"/>
                </a:lnTo>
                <a:lnTo>
                  <a:pt x="176830" y="353660"/>
                </a:lnTo>
                <a:lnTo>
                  <a:pt x="0" y="707321"/>
                </a:lnTo>
                <a:lnTo>
                  <a:pt x="648377" y="707321"/>
                </a:lnTo>
                <a:lnTo>
                  <a:pt x="825207" y="353660"/>
                </a:lnTo>
                <a:lnTo>
                  <a:pt x="648377" y="0"/>
                </a:lnTo>
                <a:close/>
              </a:path>
            </a:pathLst>
          </a:custGeom>
          <a:noFill/>
          <a:ln w="14737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64381" y="2218090"/>
            <a:ext cx="825207" cy="707316"/>
          </a:xfrm>
          <a:custGeom>
            <a:avLst/>
            <a:gdLst/>
            <a:ahLst/>
            <a:cxnLst/>
            <a:rect l="0" t="0" r="0" b="0"/>
            <a:pathLst>
              <a:path w="825207" h="707316">
                <a:moveTo>
                  <a:pt x="648376" y="0"/>
                </a:moveTo>
                <a:lnTo>
                  <a:pt x="0" y="0"/>
                </a:lnTo>
                <a:lnTo>
                  <a:pt x="176831" y="353663"/>
                </a:lnTo>
                <a:lnTo>
                  <a:pt x="0" y="707316"/>
                </a:lnTo>
                <a:lnTo>
                  <a:pt x="648376" y="707316"/>
                </a:lnTo>
                <a:lnTo>
                  <a:pt x="825207" y="353663"/>
                </a:lnTo>
                <a:lnTo>
                  <a:pt x="648376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64381" y="2218090"/>
            <a:ext cx="825207" cy="707321"/>
          </a:xfrm>
          <a:custGeom>
            <a:avLst/>
            <a:gdLst/>
            <a:ahLst/>
            <a:cxnLst/>
            <a:rect l="0" t="0" r="0" b="0"/>
            <a:pathLst>
              <a:path w="825207" h="707321">
                <a:moveTo>
                  <a:pt x="648377" y="0"/>
                </a:moveTo>
                <a:lnTo>
                  <a:pt x="0" y="0"/>
                </a:lnTo>
                <a:lnTo>
                  <a:pt x="176830" y="353660"/>
                </a:lnTo>
                <a:lnTo>
                  <a:pt x="0" y="707321"/>
                </a:lnTo>
                <a:lnTo>
                  <a:pt x="648377" y="707321"/>
                </a:lnTo>
                <a:lnTo>
                  <a:pt x="825207" y="353660"/>
                </a:lnTo>
                <a:lnTo>
                  <a:pt x="648377" y="0"/>
                </a:lnTo>
                <a:close/>
              </a:path>
            </a:pathLst>
          </a:custGeom>
          <a:noFill/>
          <a:ln w="14737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48532" y="2218090"/>
            <a:ext cx="825207" cy="707316"/>
          </a:xfrm>
          <a:custGeom>
            <a:avLst/>
            <a:gdLst/>
            <a:ahLst/>
            <a:cxnLst/>
            <a:rect l="0" t="0" r="0" b="0"/>
            <a:pathLst>
              <a:path w="825207" h="707316">
                <a:moveTo>
                  <a:pt x="648376" y="0"/>
                </a:moveTo>
                <a:lnTo>
                  <a:pt x="0" y="0"/>
                </a:lnTo>
                <a:lnTo>
                  <a:pt x="176831" y="353663"/>
                </a:lnTo>
                <a:lnTo>
                  <a:pt x="0" y="707316"/>
                </a:lnTo>
                <a:lnTo>
                  <a:pt x="648376" y="707316"/>
                </a:lnTo>
                <a:lnTo>
                  <a:pt x="825207" y="353663"/>
                </a:lnTo>
                <a:lnTo>
                  <a:pt x="648376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48532" y="2218090"/>
            <a:ext cx="825207" cy="707321"/>
          </a:xfrm>
          <a:custGeom>
            <a:avLst/>
            <a:gdLst/>
            <a:ahLst/>
            <a:cxnLst/>
            <a:rect l="0" t="0" r="0" b="0"/>
            <a:pathLst>
              <a:path w="825207" h="707321">
                <a:moveTo>
                  <a:pt x="648377" y="0"/>
                </a:moveTo>
                <a:lnTo>
                  <a:pt x="0" y="0"/>
                </a:lnTo>
                <a:lnTo>
                  <a:pt x="176830" y="353660"/>
                </a:lnTo>
                <a:lnTo>
                  <a:pt x="0" y="707321"/>
                </a:lnTo>
                <a:lnTo>
                  <a:pt x="648377" y="707321"/>
                </a:lnTo>
                <a:lnTo>
                  <a:pt x="825207" y="353660"/>
                </a:lnTo>
                <a:lnTo>
                  <a:pt x="648377" y="0"/>
                </a:lnTo>
                <a:close/>
              </a:path>
            </a:pathLst>
          </a:custGeom>
          <a:noFill/>
          <a:ln w="14737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32683" y="2218090"/>
            <a:ext cx="825207" cy="707316"/>
          </a:xfrm>
          <a:custGeom>
            <a:avLst/>
            <a:gdLst/>
            <a:ahLst/>
            <a:cxnLst/>
            <a:rect l="0" t="0" r="0" b="0"/>
            <a:pathLst>
              <a:path w="825207" h="707316">
                <a:moveTo>
                  <a:pt x="648376" y="0"/>
                </a:moveTo>
                <a:lnTo>
                  <a:pt x="0" y="0"/>
                </a:lnTo>
                <a:lnTo>
                  <a:pt x="176831" y="353663"/>
                </a:lnTo>
                <a:lnTo>
                  <a:pt x="0" y="707316"/>
                </a:lnTo>
                <a:lnTo>
                  <a:pt x="648376" y="707316"/>
                </a:lnTo>
                <a:lnTo>
                  <a:pt x="825207" y="353663"/>
                </a:lnTo>
                <a:lnTo>
                  <a:pt x="648376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32683" y="2218090"/>
            <a:ext cx="825207" cy="707321"/>
          </a:xfrm>
          <a:custGeom>
            <a:avLst/>
            <a:gdLst/>
            <a:ahLst/>
            <a:cxnLst/>
            <a:rect l="0" t="0" r="0" b="0"/>
            <a:pathLst>
              <a:path w="825207" h="707321">
                <a:moveTo>
                  <a:pt x="648377" y="0"/>
                </a:moveTo>
                <a:lnTo>
                  <a:pt x="0" y="0"/>
                </a:lnTo>
                <a:lnTo>
                  <a:pt x="176830" y="353660"/>
                </a:lnTo>
                <a:lnTo>
                  <a:pt x="0" y="707321"/>
                </a:lnTo>
                <a:lnTo>
                  <a:pt x="648377" y="707321"/>
                </a:lnTo>
                <a:lnTo>
                  <a:pt x="825207" y="353660"/>
                </a:lnTo>
                <a:lnTo>
                  <a:pt x="648377" y="0"/>
                </a:lnTo>
                <a:close/>
              </a:path>
            </a:pathLst>
          </a:custGeom>
          <a:noFill/>
          <a:ln w="14737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/>
          <p:cNvGrpSpPr/>
          <p:nvPr/>
        </p:nvGrpSpPr>
        <p:grpSpPr>
          <a:xfrm>
            <a:off x="1935168" y="3042646"/>
            <a:ext cx="58416" cy="1494411"/>
            <a:chOff x="1935168" y="3042646"/>
            <a:chExt cx="58416" cy="1494411"/>
          </a:xfrm>
        </p:grpSpPr>
        <p:sp>
          <p:nvSpPr>
            <p:cNvPr id="18" name="Rounded Rectangle 17"/>
            <p:cNvSpPr/>
            <p:nvPr/>
          </p:nvSpPr>
          <p:spPr>
            <a:xfrm>
              <a:off x="1964381" y="3102571"/>
              <a:ext cx="9525" cy="1374552"/>
            </a:xfrm>
            <a:custGeom>
              <a:avLst/>
              <a:gdLst/>
              <a:ahLst/>
              <a:cxnLst/>
              <a:rect l="0" t="0" r="0" b="0"/>
              <a:pathLst>
                <a:path w="9525" h="1374552">
                  <a:moveTo>
                    <a:pt x="0" y="0"/>
                  </a:moveTo>
                  <a:lnTo>
                    <a:pt x="0" y="1374552"/>
                  </a:lnTo>
                </a:path>
              </a:pathLst>
            </a:custGeom>
            <a:noFill/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935168" y="3042646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35168" y="4475310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03471" y="3042646"/>
            <a:ext cx="58416" cy="1494411"/>
            <a:chOff x="3703471" y="3042646"/>
            <a:chExt cx="58416" cy="1494411"/>
          </a:xfrm>
        </p:grpSpPr>
        <p:sp>
          <p:nvSpPr>
            <p:cNvPr id="22" name="Rounded Rectangle 21"/>
            <p:cNvSpPr/>
            <p:nvPr/>
          </p:nvSpPr>
          <p:spPr>
            <a:xfrm>
              <a:off x="3732684" y="3102571"/>
              <a:ext cx="9525" cy="1374552"/>
            </a:xfrm>
            <a:custGeom>
              <a:avLst/>
              <a:gdLst/>
              <a:ahLst/>
              <a:cxnLst/>
              <a:rect l="0" t="0" r="0" b="0"/>
              <a:pathLst>
                <a:path w="9525" h="1374552">
                  <a:moveTo>
                    <a:pt x="0" y="0"/>
                  </a:moveTo>
                  <a:lnTo>
                    <a:pt x="0" y="1374552"/>
                  </a:lnTo>
                </a:path>
              </a:pathLst>
            </a:custGeom>
            <a:noFill/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03471" y="3042646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03471" y="4475310"/>
              <a:ext cx="58416" cy="61747"/>
            </a:xfrm>
            <a:custGeom>
              <a:avLst/>
              <a:gdLst/>
              <a:ahLst/>
              <a:cxnLst/>
              <a:rect l="0" t="0" r="0" b="0"/>
              <a:pathLst>
                <a:path w="58416" h="61747">
                  <a:moveTo>
                    <a:pt x="190" y="30873"/>
                  </a:moveTo>
                  <a:cubicBezTo>
                    <a:pt x="0" y="41366"/>
                    <a:pt x="5488" y="51144"/>
                    <a:pt x="14545" y="56445"/>
                  </a:cubicBezTo>
                  <a:cubicBezTo>
                    <a:pt x="23601" y="61747"/>
                    <a:pt x="34814" y="61747"/>
                    <a:pt x="43870" y="56445"/>
                  </a:cubicBezTo>
                  <a:cubicBezTo>
                    <a:pt x="52927" y="51144"/>
                    <a:pt x="58416" y="41366"/>
                    <a:pt x="58225" y="30873"/>
                  </a:cubicBezTo>
                  <a:cubicBezTo>
                    <a:pt x="58416" y="20381"/>
                    <a:pt x="52927" y="10603"/>
                    <a:pt x="43870" y="5301"/>
                  </a:cubicBezTo>
                  <a:cubicBezTo>
                    <a:pt x="34814" y="0"/>
                    <a:pt x="23601" y="0"/>
                    <a:pt x="14545" y="5301"/>
                  </a:cubicBezTo>
                  <a:cubicBezTo>
                    <a:pt x="5488" y="10603"/>
                    <a:pt x="0" y="20381"/>
                    <a:pt x="190" y="30873"/>
                  </a:cubicBezTo>
                  <a:close/>
                </a:path>
              </a:pathLst>
            </a:custGeom>
            <a:solidFill>
              <a:srgbClr val="FFFFFF"/>
            </a:solidFill>
            <a:ln w="14737">
              <a:solidFill>
                <a:srgbClr val="1355D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17166" y="607104"/>
            <a:ext cx="1295400" cy="471515"/>
            <a:chOff x="1217166" y="607104"/>
            <a:chExt cx="1295400" cy="471515"/>
          </a:xfrm>
        </p:grpSpPr>
        <p:sp>
          <p:nvSpPr>
            <p:cNvPr id="26" name="TextBox 25"/>
            <p:cNvSpPr txBox="1"/>
            <p:nvPr/>
          </p:nvSpPr>
          <p:spPr>
            <a:xfrm>
              <a:off x="1217166" y="607104"/>
              <a:ext cx="1489710" cy="235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User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17166" y="842847"/>
              <a:ext cx="1489710" cy="235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Requirements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985469" y="803557"/>
            <a:ext cx="1004887" cy="471515"/>
            <a:chOff x="2985469" y="803557"/>
            <a:chExt cx="1004887" cy="471515"/>
          </a:xfrm>
        </p:grpSpPr>
        <p:sp>
          <p:nvSpPr>
            <p:cNvPr id="29" name="TextBox 28"/>
            <p:cNvSpPr txBox="1"/>
            <p:nvPr/>
          </p:nvSpPr>
          <p:spPr>
            <a:xfrm>
              <a:off x="2985469" y="803557"/>
              <a:ext cx="1155620" cy="235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Optimized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85469" y="1039300"/>
              <a:ext cx="1155620" cy="235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Bundle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305550" y="371475"/>
            <a:ext cx="2090737" cy="1600200"/>
            <a:chOff x="6305550" y="371475"/>
            <a:chExt cx="2090737" cy="1600200"/>
          </a:xfrm>
        </p:grpSpPr>
        <p:sp>
          <p:nvSpPr>
            <p:cNvPr id="32" name="TextBox 31"/>
            <p:cNvSpPr txBox="1"/>
            <p:nvPr/>
          </p:nvSpPr>
          <p:spPr>
            <a:xfrm>
              <a:off x="6305550" y="371475"/>
              <a:ext cx="240434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One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05550" y="771525"/>
              <a:ext cx="240434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Intelligent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05550" y="1171575"/>
              <a:ext cx="240434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Design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05550" y="1571625"/>
              <a:ext cx="240434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Workflow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217166" y="1196525"/>
            <a:ext cx="1257300" cy="785783"/>
            <a:chOff x="1217166" y="1196525"/>
            <a:chExt cx="1257300" cy="785783"/>
          </a:xfrm>
        </p:grpSpPr>
        <p:sp>
          <p:nvSpPr>
            <p:cNvPr id="37" name="TextBox 36"/>
            <p:cNvSpPr txBox="1"/>
            <p:nvPr/>
          </p:nvSpPr>
          <p:spPr>
            <a:xfrm>
              <a:off x="1217166" y="1196525"/>
              <a:ext cx="1445895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Room dimensions,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17166" y="1393025"/>
              <a:ext cx="1445895" cy="196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budget, aesthetic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17166" y="1589431"/>
              <a:ext cx="1445895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theme, power, and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217166" y="1785932"/>
              <a:ext cx="1445895" cy="196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preferences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985469" y="1392983"/>
            <a:ext cx="1281112" cy="589329"/>
            <a:chOff x="2985469" y="1392983"/>
            <a:chExt cx="1281112" cy="589329"/>
          </a:xfrm>
        </p:grpSpPr>
        <p:sp>
          <p:nvSpPr>
            <p:cNvPr id="42" name="TextBox 41"/>
            <p:cNvSpPr txBox="1"/>
            <p:nvPr/>
          </p:nvSpPr>
          <p:spPr>
            <a:xfrm>
              <a:off x="2985469" y="1392983"/>
              <a:ext cx="1473278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Value, Balanced, or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85469" y="1589483"/>
              <a:ext cx="1473278" cy="196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Luxury product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85469" y="1785889"/>
              <a:ext cx="1473278" cy="196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combinations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305550" y="2143125"/>
            <a:ext cx="2414587" cy="1371600"/>
            <a:chOff x="6305550" y="2143125"/>
            <a:chExt cx="2414587" cy="1371600"/>
          </a:xfrm>
        </p:grpSpPr>
        <p:sp>
          <p:nvSpPr>
            <p:cNvPr id="46" name="TextBox 45"/>
            <p:cNvSpPr txBox="1"/>
            <p:nvPr/>
          </p:nvSpPr>
          <p:spPr>
            <a:xfrm>
              <a:off x="6305550" y="21431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The Problem: Traditional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305550" y="23717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design requires manual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305550" y="26003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measurement, product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05550" y="28289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selection, dimension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5550" y="30575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checking, price comparison,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05550" y="3286125"/>
              <a:ext cx="27767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and compatibility verification.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101318" y="3161194"/>
            <a:ext cx="1181100" cy="471515"/>
            <a:chOff x="2101318" y="3161194"/>
            <a:chExt cx="1181100" cy="471515"/>
          </a:xfrm>
        </p:grpSpPr>
        <p:sp>
          <p:nvSpPr>
            <p:cNvPr id="53" name="TextBox 52"/>
            <p:cNvSpPr txBox="1"/>
            <p:nvPr/>
          </p:nvSpPr>
          <p:spPr>
            <a:xfrm>
              <a:off x="2101318" y="3161194"/>
              <a:ext cx="1358265" cy="235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KOHLER AI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01318" y="3396937"/>
              <a:ext cx="1358265" cy="235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Designer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869621" y="3161194"/>
            <a:ext cx="1343025" cy="471515"/>
            <a:chOff x="3869621" y="3161194"/>
            <a:chExt cx="1343025" cy="471515"/>
          </a:xfrm>
        </p:grpSpPr>
        <p:sp>
          <p:nvSpPr>
            <p:cNvPr id="56" name="TextBox 55"/>
            <p:cNvSpPr txBox="1"/>
            <p:nvPr/>
          </p:nvSpPr>
          <p:spPr>
            <a:xfrm>
              <a:off x="3869621" y="3161194"/>
              <a:ext cx="1544478" cy="235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Interactive 3D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869621" y="3396937"/>
              <a:ext cx="1544478" cy="235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355D6"/>
                  </a:solidFill>
                  <a:latin typeface="STIX Two Text"/>
                </a:rPr>
                <a:t>Bathroom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101318" y="3750615"/>
            <a:ext cx="1333500" cy="785783"/>
            <a:chOff x="2101318" y="3750615"/>
            <a:chExt cx="1333500" cy="785783"/>
          </a:xfrm>
        </p:grpSpPr>
        <p:sp>
          <p:nvSpPr>
            <p:cNvPr id="59" name="TextBox 58"/>
            <p:cNvSpPr txBox="1"/>
            <p:nvPr/>
          </p:nvSpPr>
          <p:spPr>
            <a:xfrm>
              <a:off x="2101318" y="3750615"/>
              <a:ext cx="1533525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Deterministic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101318" y="3947115"/>
              <a:ext cx="1533525" cy="196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optimization engine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101318" y="4143521"/>
              <a:ext cx="1533525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processing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01318" y="4340022"/>
              <a:ext cx="1533525" cy="196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constraints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3869621" y="3750615"/>
            <a:ext cx="1147762" cy="785783"/>
            <a:chOff x="3869621" y="3750615"/>
            <a:chExt cx="1147762" cy="785783"/>
          </a:xfrm>
        </p:grpSpPr>
        <p:sp>
          <p:nvSpPr>
            <p:cNvPr id="64" name="TextBox 63"/>
            <p:cNvSpPr txBox="1"/>
            <p:nvPr/>
          </p:nvSpPr>
          <p:spPr>
            <a:xfrm>
              <a:off x="3869621" y="3750615"/>
              <a:ext cx="1319926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Real-time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869621" y="3947115"/>
              <a:ext cx="1319926" cy="196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visualization and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869621" y="4143521"/>
              <a:ext cx="1319926" cy="196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natural-language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869621" y="4340022"/>
              <a:ext cx="1319926" cy="196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refinement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288063" y="1453525"/>
            <a:ext cx="5425373" cy="2127180"/>
            <a:chOff x="3288063" y="1453525"/>
            <a:chExt cx="5425373" cy="2127180"/>
          </a:xfrm>
        </p:grpSpPr>
        <p:sp>
          <p:nvSpPr>
            <p:cNvPr id="2" name="Rounded Rectangle 1"/>
            <p:cNvSpPr/>
            <p:nvPr/>
          </p:nvSpPr>
          <p:spPr>
            <a:xfrm>
              <a:off x="3497556" y="2700481"/>
              <a:ext cx="515683" cy="815759"/>
            </a:xfrm>
            <a:custGeom>
              <a:avLst/>
              <a:gdLst/>
              <a:ahLst/>
              <a:cxnLst/>
              <a:rect l="0" t="0" r="0" b="0"/>
              <a:pathLst>
                <a:path w="515683" h="815759">
                  <a:moveTo>
                    <a:pt x="252983" y="4762"/>
                  </a:moveTo>
                  <a:lnTo>
                    <a:pt x="193386" y="171164"/>
                  </a:lnTo>
                  <a:cubicBezTo>
                    <a:pt x="179060" y="211435"/>
                    <a:pt x="171897" y="291988"/>
                    <a:pt x="257794" y="292026"/>
                  </a:cubicBezTo>
                  <a:cubicBezTo>
                    <a:pt x="225609" y="291988"/>
                    <a:pt x="221132" y="254412"/>
                    <a:pt x="222923" y="235619"/>
                  </a:cubicBezTo>
                  <a:cubicBezTo>
                    <a:pt x="227218" y="194795"/>
                    <a:pt x="249783" y="122815"/>
                    <a:pt x="257841" y="122815"/>
                  </a:cubicBezTo>
                  <a:cubicBezTo>
                    <a:pt x="265899" y="122815"/>
                    <a:pt x="292760" y="195338"/>
                    <a:pt x="295446" y="235619"/>
                  </a:cubicBezTo>
                  <a:cubicBezTo>
                    <a:pt x="296341" y="254412"/>
                    <a:pt x="290074" y="291988"/>
                    <a:pt x="257889" y="292026"/>
                  </a:cubicBezTo>
                  <a:cubicBezTo>
                    <a:pt x="359892" y="291988"/>
                    <a:pt x="327669" y="171164"/>
                    <a:pt x="327669" y="171164"/>
                  </a:cubicBezTo>
                  <a:lnTo>
                    <a:pt x="263051" y="4629"/>
                  </a:lnTo>
                  <a:cubicBezTo>
                    <a:pt x="261251" y="0"/>
                    <a:pt x="254660" y="85"/>
                    <a:pt x="252983" y="4762"/>
                  </a:cubicBezTo>
                  <a:moveTo>
                    <a:pt x="0" y="815759"/>
                  </a:moveTo>
                  <a:lnTo>
                    <a:pt x="0" y="622382"/>
                  </a:lnTo>
                  <a:lnTo>
                    <a:pt x="193386" y="493461"/>
                  </a:lnTo>
                  <a:lnTo>
                    <a:pt x="193386" y="428996"/>
                  </a:lnTo>
                  <a:lnTo>
                    <a:pt x="155781" y="428996"/>
                  </a:lnTo>
                  <a:cubicBezTo>
                    <a:pt x="140950" y="428996"/>
                    <a:pt x="128920" y="416975"/>
                    <a:pt x="128920" y="402145"/>
                  </a:cubicBezTo>
                  <a:lnTo>
                    <a:pt x="128920" y="391401"/>
                  </a:lnTo>
                  <a:cubicBezTo>
                    <a:pt x="128920" y="376561"/>
                    <a:pt x="140950" y="364540"/>
                    <a:pt x="155781" y="364540"/>
                  </a:cubicBezTo>
                  <a:lnTo>
                    <a:pt x="359902" y="364540"/>
                  </a:lnTo>
                  <a:cubicBezTo>
                    <a:pt x="374732" y="364540"/>
                    <a:pt x="386762" y="376561"/>
                    <a:pt x="386762" y="391401"/>
                  </a:cubicBezTo>
                  <a:lnTo>
                    <a:pt x="386762" y="402145"/>
                  </a:lnTo>
                  <a:cubicBezTo>
                    <a:pt x="386762" y="416975"/>
                    <a:pt x="374732" y="428996"/>
                    <a:pt x="359902" y="428996"/>
                  </a:cubicBezTo>
                  <a:lnTo>
                    <a:pt x="322297" y="428996"/>
                  </a:lnTo>
                  <a:lnTo>
                    <a:pt x="322297" y="493461"/>
                  </a:lnTo>
                  <a:lnTo>
                    <a:pt x="515683" y="622382"/>
                  </a:lnTo>
                  <a:lnTo>
                    <a:pt x="515683" y="815759"/>
                  </a:lnTo>
                  <a:lnTo>
                    <a:pt x="0" y="815759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7977516" y="3000566"/>
              <a:ext cx="558660" cy="515673"/>
            </a:xfrm>
            <a:custGeom>
              <a:avLst/>
              <a:gdLst/>
              <a:ahLst/>
              <a:cxnLst/>
              <a:rect l="0" t="0" r="0" b="0"/>
              <a:pathLst>
                <a:path w="558660" h="515673">
                  <a:moveTo>
                    <a:pt x="64465" y="64455"/>
                  </a:moveTo>
                  <a:lnTo>
                    <a:pt x="64465" y="515673"/>
                  </a:lnTo>
                  <a:lnTo>
                    <a:pt x="494195" y="515673"/>
                  </a:lnTo>
                  <a:lnTo>
                    <a:pt x="494195" y="64455"/>
                  </a:lnTo>
                  <a:lnTo>
                    <a:pt x="526427" y="64455"/>
                  </a:lnTo>
                  <a:cubicBezTo>
                    <a:pt x="544229" y="64455"/>
                    <a:pt x="558660" y="50025"/>
                    <a:pt x="558660" y="32223"/>
                  </a:cubicBezTo>
                  <a:cubicBezTo>
                    <a:pt x="558660" y="14430"/>
                    <a:pt x="544229" y="0"/>
                    <a:pt x="526427" y="0"/>
                  </a:cubicBezTo>
                  <a:lnTo>
                    <a:pt x="32232" y="0"/>
                  </a:lnTo>
                  <a:cubicBezTo>
                    <a:pt x="14430" y="0"/>
                    <a:pt x="0" y="14430"/>
                    <a:pt x="0" y="32223"/>
                  </a:cubicBezTo>
                  <a:cubicBezTo>
                    <a:pt x="0" y="50025"/>
                    <a:pt x="14430" y="64455"/>
                    <a:pt x="32232" y="64455"/>
                  </a:cubicBezTo>
                  <a:lnTo>
                    <a:pt x="64465" y="64455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484125" y="1808055"/>
              <a:ext cx="658034" cy="580139"/>
            </a:xfrm>
            <a:custGeom>
              <a:avLst/>
              <a:gdLst/>
              <a:ahLst/>
              <a:cxnLst/>
              <a:rect l="0" t="0" r="0" b="0"/>
              <a:pathLst>
                <a:path w="658034" h="580139">
                  <a:moveTo>
                    <a:pt x="142351" y="580139"/>
                  </a:moveTo>
                  <a:cubicBezTo>
                    <a:pt x="94907" y="553278"/>
                    <a:pt x="0" y="464115"/>
                    <a:pt x="0" y="322297"/>
                  </a:cubicBezTo>
                  <a:cubicBezTo>
                    <a:pt x="0" y="180489"/>
                    <a:pt x="94907" y="119967"/>
                    <a:pt x="142351" y="107432"/>
                  </a:cubicBezTo>
                  <a:lnTo>
                    <a:pt x="142351" y="64455"/>
                  </a:lnTo>
                  <a:lnTo>
                    <a:pt x="110118" y="64455"/>
                  </a:lnTo>
                  <a:cubicBezTo>
                    <a:pt x="92325" y="64455"/>
                    <a:pt x="77895" y="50025"/>
                    <a:pt x="77895" y="32232"/>
                  </a:cubicBezTo>
                  <a:cubicBezTo>
                    <a:pt x="77895" y="14430"/>
                    <a:pt x="92325" y="0"/>
                    <a:pt x="110118" y="0"/>
                  </a:cubicBezTo>
                  <a:lnTo>
                    <a:pt x="432425" y="0"/>
                  </a:lnTo>
                  <a:cubicBezTo>
                    <a:pt x="450218" y="0"/>
                    <a:pt x="464648" y="14430"/>
                    <a:pt x="464648" y="32232"/>
                  </a:cubicBezTo>
                  <a:cubicBezTo>
                    <a:pt x="464648" y="50025"/>
                    <a:pt x="450218" y="64455"/>
                    <a:pt x="432425" y="64455"/>
                  </a:cubicBezTo>
                  <a:lnTo>
                    <a:pt x="400192" y="64455"/>
                  </a:lnTo>
                  <a:lnTo>
                    <a:pt x="400192" y="107432"/>
                  </a:lnTo>
                  <a:cubicBezTo>
                    <a:pt x="425510" y="114119"/>
                    <a:pt x="464343" y="134473"/>
                    <a:pt x="495061" y="173555"/>
                  </a:cubicBezTo>
                  <a:lnTo>
                    <a:pt x="512987" y="150056"/>
                  </a:lnTo>
                  <a:cubicBezTo>
                    <a:pt x="523151" y="136740"/>
                    <a:pt x="538943" y="128920"/>
                    <a:pt x="555698" y="128920"/>
                  </a:cubicBezTo>
                  <a:lnTo>
                    <a:pt x="658034" y="128920"/>
                  </a:lnTo>
                  <a:lnTo>
                    <a:pt x="658034" y="193376"/>
                  </a:lnTo>
                  <a:lnTo>
                    <a:pt x="590569" y="193376"/>
                  </a:lnTo>
                  <a:cubicBezTo>
                    <a:pt x="573843" y="193376"/>
                    <a:pt x="558069" y="201177"/>
                    <a:pt x="547897" y="214464"/>
                  </a:cubicBezTo>
                  <a:lnTo>
                    <a:pt x="529666" y="238305"/>
                  </a:lnTo>
                  <a:cubicBezTo>
                    <a:pt x="537705" y="262413"/>
                    <a:pt x="542543" y="290283"/>
                    <a:pt x="542543" y="322297"/>
                  </a:cubicBezTo>
                  <a:cubicBezTo>
                    <a:pt x="542543" y="464115"/>
                    <a:pt x="447636" y="553278"/>
                    <a:pt x="400192" y="580139"/>
                  </a:cubicBezTo>
                  <a:lnTo>
                    <a:pt x="142351" y="580139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258586" y="2162585"/>
              <a:ext cx="386762" cy="1353654"/>
            </a:xfrm>
            <a:custGeom>
              <a:avLst/>
              <a:gdLst/>
              <a:ahLst/>
              <a:cxnLst/>
              <a:rect l="0" t="0" r="0" b="0"/>
              <a:pathLst>
                <a:path w="386762" h="1353654">
                  <a:moveTo>
                    <a:pt x="0" y="1353654"/>
                  </a:moveTo>
                  <a:lnTo>
                    <a:pt x="0" y="1321422"/>
                  </a:lnTo>
                  <a:cubicBezTo>
                    <a:pt x="0" y="1303629"/>
                    <a:pt x="14430" y="1289199"/>
                    <a:pt x="32232" y="1289199"/>
                  </a:cubicBezTo>
                  <a:lnTo>
                    <a:pt x="32232" y="421671"/>
                  </a:lnTo>
                  <a:lnTo>
                    <a:pt x="64465" y="322297"/>
                  </a:lnTo>
                  <a:lnTo>
                    <a:pt x="64465" y="64455"/>
                  </a:lnTo>
                  <a:lnTo>
                    <a:pt x="32232" y="64455"/>
                  </a:lnTo>
                  <a:cubicBezTo>
                    <a:pt x="14430" y="64455"/>
                    <a:pt x="0" y="50025"/>
                    <a:pt x="0" y="32232"/>
                  </a:cubicBezTo>
                  <a:cubicBezTo>
                    <a:pt x="0" y="14430"/>
                    <a:pt x="14430" y="0"/>
                    <a:pt x="32232" y="0"/>
                  </a:cubicBezTo>
                  <a:lnTo>
                    <a:pt x="354530" y="0"/>
                  </a:lnTo>
                  <a:cubicBezTo>
                    <a:pt x="372332" y="0"/>
                    <a:pt x="386762" y="14430"/>
                    <a:pt x="386762" y="32232"/>
                  </a:cubicBezTo>
                  <a:cubicBezTo>
                    <a:pt x="386762" y="50025"/>
                    <a:pt x="372332" y="64455"/>
                    <a:pt x="354530" y="64455"/>
                  </a:cubicBezTo>
                  <a:lnTo>
                    <a:pt x="322297" y="64455"/>
                  </a:lnTo>
                  <a:lnTo>
                    <a:pt x="322297" y="322297"/>
                  </a:lnTo>
                  <a:lnTo>
                    <a:pt x="354530" y="421671"/>
                  </a:lnTo>
                  <a:lnTo>
                    <a:pt x="354530" y="1289199"/>
                  </a:lnTo>
                  <a:cubicBezTo>
                    <a:pt x="372332" y="1289199"/>
                    <a:pt x="386762" y="1303629"/>
                    <a:pt x="386762" y="1321422"/>
                  </a:cubicBezTo>
                  <a:lnTo>
                    <a:pt x="386762" y="1353654"/>
                  </a:lnTo>
                  <a:lnTo>
                    <a:pt x="0" y="1353654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53591" y="2404310"/>
              <a:ext cx="1020622" cy="816492"/>
            </a:xfrm>
            <a:custGeom>
              <a:avLst/>
              <a:gdLst/>
              <a:ahLst/>
              <a:cxnLst/>
              <a:rect l="0" t="0" r="0" b="0"/>
              <a:pathLst>
                <a:path w="1020622" h="816492">
                  <a:moveTo>
                    <a:pt x="239039" y="80571"/>
                  </a:moveTo>
                  <a:lnTo>
                    <a:pt x="239039" y="0"/>
                  </a:lnTo>
                  <a:lnTo>
                    <a:pt x="376018" y="0"/>
                  </a:lnTo>
                  <a:lnTo>
                    <a:pt x="376018" y="80571"/>
                  </a:lnTo>
                  <a:lnTo>
                    <a:pt x="402878" y="80571"/>
                  </a:lnTo>
                  <a:cubicBezTo>
                    <a:pt x="420681" y="80571"/>
                    <a:pt x="435111" y="95002"/>
                    <a:pt x="435111" y="112804"/>
                  </a:cubicBezTo>
                  <a:cubicBezTo>
                    <a:pt x="435111" y="130606"/>
                    <a:pt x="420681" y="145037"/>
                    <a:pt x="402878" y="145037"/>
                  </a:cubicBezTo>
                  <a:lnTo>
                    <a:pt x="373332" y="145037"/>
                  </a:lnTo>
                  <a:lnTo>
                    <a:pt x="373332" y="217550"/>
                  </a:lnTo>
                  <a:cubicBezTo>
                    <a:pt x="478974" y="213074"/>
                    <a:pt x="756332" y="255689"/>
                    <a:pt x="1020622" y="461962"/>
                  </a:cubicBezTo>
                  <a:lnTo>
                    <a:pt x="983018" y="521046"/>
                  </a:lnTo>
                  <a:cubicBezTo>
                    <a:pt x="929363" y="481707"/>
                    <a:pt x="773210" y="400335"/>
                    <a:pt x="580139" y="389448"/>
                  </a:cubicBezTo>
                  <a:cubicBezTo>
                    <a:pt x="596969" y="427177"/>
                    <a:pt x="606999" y="469011"/>
                    <a:pt x="606999" y="512987"/>
                  </a:cubicBezTo>
                  <a:cubicBezTo>
                    <a:pt x="606999" y="680608"/>
                    <a:pt x="471116" y="816492"/>
                    <a:pt x="303504" y="816492"/>
                  </a:cubicBezTo>
                  <a:cubicBezTo>
                    <a:pt x="135883" y="816492"/>
                    <a:pt x="0" y="680608"/>
                    <a:pt x="0" y="512987"/>
                  </a:cubicBezTo>
                  <a:cubicBezTo>
                    <a:pt x="0" y="367493"/>
                    <a:pt x="102384" y="245906"/>
                    <a:pt x="239039" y="216350"/>
                  </a:cubicBezTo>
                  <a:lnTo>
                    <a:pt x="239039" y="145037"/>
                  </a:lnTo>
                  <a:lnTo>
                    <a:pt x="209502" y="145037"/>
                  </a:lnTo>
                  <a:cubicBezTo>
                    <a:pt x="191700" y="145037"/>
                    <a:pt x="177269" y="130606"/>
                    <a:pt x="177269" y="112804"/>
                  </a:cubicBezTo>
                  <a:cubicBezTo>
                    <a:pt x="177269" y="95002"/>
                    <a:pt x="191700" y="80571"/>
                    <a:pt x="209502" y="80571"/>
                  </a:cubicBezTo>
                  <a:lnTo>
                    <a:pt x="239039" y="80571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18112" y="1517980"/>
              <a:ext cx="821864" cy="644604"/>
            </a:xfrm>
            <a:custGeom>
              <a:avLst/>
              <a:gdLst/>
              <a:ahLst/>
              <a:cxnLst/>
              <a:rect l="0" t="0" r="0" b="0"/>
              <a:pathLst>
                <a:path w="821864" h="644604">
                  <a:moveTo>
                    <a:pt x="193376" y="64465"/>
                  </a:moveTo>
                  <a:lnTo>
                    <a:pt x="0" y="64465"/>
                  </a:lnTo>
                  <a:lnTo>
                    <a:pt x="0" y="0"/>
                  </a:lnTo>
                  <a:lnTo>
                    <a:pt x="204120" y="0"/>
                  </a:lnTo>
                  <a:cubicBezTo>
                    <a:pt x="233791" y="0"/>
                    <a:pt x="257841" y="24050"/>
                    <a:pt x="257841" y="53721"/>
                  </a:cubicBezTo>
                  <a:lnTo>
                    <a:pt x="257841" y="106070"/>
                  </a:lnTo>
                  <a:cubicBezTo>
                    <a:pt x="304314" y="118986"/>
                    <a:pt x="338413" y="161601"/>
                    <a:pt x="338413" y="212188"/>
                  </a:cubicBezTo>
                  <a:cubicBezTo>
                    <a:pt x="338413" y="262766"/>
                    <a:pt x="304314" y="305381"/>
                    <a:pt x="257841" y="318296"/>
                  </a:cubicBezTo>
                  <a:lnTo>
                    <a:pt x="257841" y="386762"/>
                  </a:lnTo>
                  <a:lnTo>
                    <a:pt x="443160" y="386762"/>
                  </a:lnTo>
                  <a:cubicBezTo>
                    <a:pt x="452266" y="328231"/>
                    <a:pt x="487584" y="278501"/>
                    <a:pt x="537162" y="250355"/>
                  </a:cubicBezTo>
                  <a:lnTo>
                    <a:pt x="537162" y="196072"/>
                  </a:lnTo>
                  <a:cubicBezTo>
                    <a:pt x="537162" y="194586"/>
                    <a:pt x="535962" y="193395"/>
                    <a:pt x="534485" y="193271"/>
                  </a:cubicBezTo>
                  <a:cubicBezTo>
                    <a:pt x="517940" y="191909"/>
                    <a:pt x="504939" y="178050"/>
                    <a:pt x="504939" y="161153"/>
                  </a:cubicBezTo>
                  <a:cubicBezTo>
                    <a:pt x="504939" y="143351"/>
                    <a:pt x="519369" y="128920"/>
                    <a:pt x="537162" y="128920"/>
                  </a:cubicBezTo>
                  <a:lnTo>
                    <a:pt x="730548" y="128920"/>
                  </a:lnTo>
                  <a:cubicBezTo>
                    <a:pt x="748350" y="128920"/>
                    <a:pt x="762771" y="143351"/>
                    <a:pt x="762771" y="161153"/>
                  </a:cubicBezTo>
                  <a:cubicBezTo>
                    <a:pt x="762771" y="187404"/>
                    <a:pt x="743178" y="192271"/>
                    <a:pt x="735901" y="193176"/>
                  </a:cubicBezTo>
                  <a:cubicBezTo>
                    <a:pt x="734434" y="193357"/>
                    <a:pt x="733234" y="194586"/>
                    <a:pt x="733234" y="196072"/>
                  </a:cubicBezTo>
                  <a:lnTo>
                    <a:pt x="733234" y="255193"/>
                  </a:lnTo>
                  <a:cubicBezTo>
                    <a:pt x="786507" y="289017"/>
                    <a:pt x="821864" y="348529"/>
                    <a:pt x="821864" y="416309"/>
                  </a:cubicBezTo>
                  <a:cubicBezTo>
                    <a:pt x="821864" y="484079"/>
                    <a:pt x="786507" y="543601"/>
                    <a:pt x="733234" y="577415"/>
                  </a:cubicBezTo>
                  <a:lnTo>
                    <a:pt x="733234" y="644604"/>
                  </a:lnTo>
                  <a:lnTo>
                    <a:pt x="537162" y="644604"/>
                  </a:lnTo>
                  <a:lnTo>
                    <a:pt x="537162" y="580148"/>
                  </a:lnTo>
                  <a:cubicBezTo>
                    <a:pt x="489108" y="552859"/>
                    <a:pt x="454066" y="507425"/>
                    <a:pt x="443664" y="451227"/>
                  </a:cubicBezTo>
                  <a:lnTo>
                    <a:pt x="247097" y="451227"/>
                  </a:lnTo>
                  <a:cubicBezTo>
                    <a:pt x="217427" y="451227"/>
                    <a:pt x="193376" y="427177"/>
                    <a:pt x="193376" y="397506"/>
                  </a:cubicBezTo>
                  <a:lnTo>
                    <a:pt x="193376" y="316658"/>
                  </a:lnTo>
                  <a:cubicBezTo>
                    <a:pt x="149675" y="302056"/>
                    <a:pt x="118176" y="260794"/>
                    <a:pt x="118176" y="212188"/>
                  </a:cubicBezTo>
                  <a:cubicBezTo>
                    <a:pt x="118176" y="163572"/>
                    <a:pt x="149675" y="122320"/>
                    <a:pt x="193376" y="107718"/>
                  </a:cubicBezTo>
                  <a:lnTo>
                    <a:pt x="193376" y="64465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59085" y="2742724"/>
              <a:ext cx="376018" cy="709060"/>
            </a:xfrm>
            <a:custGeom>
              <a:avLst/>
              <a:gdLst/>
              <a:ahLst/>
              <a:cxnLst/>
              <a:rect l="0" t="0" r="0" b="0"/>
              <a:pathLst>
                <a:path w="376018" h="709060">
                  <a:moveTo>
                    <a:pt x="134292" y="75199"/>
                  </a:moveTo>
                  <a:lnTo>
                    <a:pt x="145037" y="75199"/>
                  </a:lnTo>
                  <a:cubicBezTo>
                    <a:pt x="159867" y="75199"/>
                    <a:pt x="171888" y="87229"/>
                    <a:pt x="171888" y="102060"/>
                  </a:cubicBezTo>
                  <a:cubicBezTo>
                    <a:pt x="171888" y="116890"/>
                    <a:pt x="159867" y="128920"/>
                    <a:pt x="145037" y="128920"/>
                  </a:cubicBezTo>
                  <a:lnTo>
                    <a:pt x="134292" y="128920"/>
                  </a:lnTo>
                  <a:lnTo>
                    <a:pt x="134292" y="660711"/>
                  </a:lnTo>
                  <a:cubicBezTo>
                    <a:pt x="134292" y="687409"/>
                    <a:pt x="112642" y="709060"/>
                    <a:pt x="85944" y="709060"/>
                  </a:cubicBezTo>
                  <a:cubicBezTo>
                    <a:pt x="59245" y="709060"/>
                    <a:pt x="37604" y="687409"/>
                    <a:pt x="37604" y="660711"/>
                  </a:cubicBezTo>
                  <a:lnTo>
                    <a:pt x="37604" y="128920"/>
                  </a:lnTo>
                  <a:lnTo>
                    <a:pt x="26860" y="128920"/>
                  </a:lnTo>
                  <a:cubicBezTo>
                    <a:pt x="12020" y="128920"/>
                    <a:pt x="0" y="116890"/>
                    <a:pt x="0" y="102060"/>
                  </a:cubicBezTo>
                  <a:cubicBezTo>
                    <a:pt x="0" y="87229"/>
                    <a:pt x="12020" y="75199"/>
                    <a:pt x="26860" y="75199"/>
                  </a:cubicBezTo>
                  <a:lnTo>
                    <a:pt x="37604" y="75199"/>
                  </a:lnTo>
                  <a:lnTo>
                    <a:pt x="37604" y="0"/>
                  </a:lnTo>
                  <a:lnTo>
                    <a:pt x="134292" y="0"/>
                  </a:lnTo>
                  <a:lnTo>
                    <a:pt x="134292" y="75199"/>
                  </a:lnTo>
                  <a:moveTo>
                    <a:pt x="338413" y="75199"/>
                  </a:moveTo>
                  <a:lnTo>
                    <a:pt x="349157" y="75199"/>
                  </a:lnTo>
                  <a:cubicBezTo>
                    <a:pt x="363988" y="75199"/>
                    <a:pt x="376018" y="87229"/>
                    <a:pt x="376018" y="102060"/>
                  </a:cubicBezTo>
                  <a:cubicBezTo>
                    <a:pt x="376018" y="116890"/>
                    <a:pt x="363988" y="128920"/>
                    <a:pt x="349157" y="128920"/>
                  </a:cubicBezTo>
                  <a:lnTo>
                    <a:pt x="338413" y="128920"/>
                  </a:lnTo>
                  <a:lnTo>
                    <a:pt x="338413" y="660711"/>
                  </a:lnTo>
                  <a:cubicBezTo>
                    <a:pt x="338413" y="687409"/>
                    <a:pt x="316772" y="709060"/>
                    <a:pt x="290064" y="709060"/>
                  </a:cubicBezTo>
                  <a:cubicBezTo>
                    <a:pt x="263366" y="709060"/>
                    <a:pt x="241725" y="687409"/>
                    <a:pt x="241725" y="660711"/>
                  </a:cubicBezTo>
                  <a:lnTo>
                    <a:pt x="241725" y="128920"/>
                  </a:lnTo>
                  <a:lnTo>
                    <a:pt x="230981" y="128920"/>
                  </a:lnTo>
                  <a:cubicBezTo>
                    <a:pt x="216150" y="128920"/>
                    <a:pt x="204120" y="116890"/>
                    <a:pt x="204120" y="102060"/>
                  </a:cubicBezTo>
                  <a:cubicBezTo>
                    <a:pt x="204120" y="87229"/>
                    <a:pt x="216150" y="75199"/>
                    <a:pt x="230981" y="75199"/>
                  </a:cubicBezTo>
                  <a:lnTo>
                    <a:pt x="241725" y="75199"/>
                  </a:lnTo>
                  <a:lnTo>
                    <a:pt x="241725" y="0"/>
                  </a:lnTo>
                  <a:lnTo>
                    <a:pt x="338413" y="0"/>
                  </a:lnTo>
                  <a:lnTo>
                    <a:pt x="338413" y="75199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55846" y="2189445"/>
              <a:ext cx="767648" cy="1031357"/>
            </a:xfrm>
            <a:custGeom>
              <a:avLst/>
              <a:gdLst/>
              <a:ahLst/>
              <a:cxnLst/>
              <a:rect l="0" t="0" r="0" b="0"/>
              <a:pathLst>
                <a:path w="767648" h="1031357">
                  <a:moveTo>
                    <a:pt x="547401" y="102060"/>
                  </a:moveTo>
                  <a:lnTo>
                    <a:pt x="579634" y="102060"/>
                  </a:lnTo>
                  <a:cubicBezTo>
                    <a:pt x="597436" y="102060"/>
                    <a:pt x="611866" y="116490"/>
                    <a:pt x="611866" y="134283"/>
                  </a:cubicBezTo>
                  <a:cubicBezTo>
                    <a:pt x="611866" y="152085"/>
                    <a:pt x="597436" y="166516"/>
                    <a:pt x="579634" y="166516"/>
                  </a:cubicBezTo>
                  <a:lnTo>
                    <a:pt x="547401" y="166516"/>
                  </a:lnTo>
                  <a:lnTo>
                    <a:pt x="547401" y="488813"/>
                  </a:lnTo>
                  <a:cubicBezTo>
                    <a:pt x="672722" y="513997"/>
                    <a:pt x="767648" y="624678"/>
                    <a:pt x="767648" y="757399"/>
                  </a:cubicBezTo>
                  <a:cubicBezTo>
                    <a:pt x="767648" y="908704"/>
                    <a:pt x="644985" y="1031357"/>
                    <a:pt x="493690" y="1031357"/>
                  </a:cubicBezTo>
                  <a:cubicBezTo>
                    <a:pt x="342385" y="1031357"/>
                    <a:pt x="219732" y="908704"/>
                    <a:pt x="219732" y="757399"/>
                  </a:cubicBezTo>
                  <a:cubicBezTo>
                    <a:pt x="219732" y="712860"/>
                    <a:pt x="230362" y="670798"/>
                    <a:pt x="249231" y="633622"/>
                  </a:cubicBezTo>
                  <a:lnTo>
                    <a:pt x="66760" y="463372"/>
                  </a:lnTo>
                  <a:lnTo>
                    <a:pt x="59436" y="471230"/>
                  </a:lnTo>
                  <a:cubicBezTo>
                    <a:pt x="51339" y="479907"/>
                    <a:pt x="37747" y="480374"/>
                    <a:pt x="29070" y="472278"/>
                  </a:cubicBezTo>
                  <a:cubicBezTo>
                    <a:pt x="20393" y="464191"/>
                    <a:pt x="19916" y="450589"/>
                    <a:pt x="28013" y="441912"/>
                  </a:cubicBezTo>
                  <a:lnTo>
                    <a:pt x="35337" y="434054"/>
                  </a:lnTo>
                  <a:lnTo>
                    <a:pt x="0" y="401078"/>
                  </a:lnTo>
                  <a:lnTo>
                    <a:pt x="91611" y="302885"/>
                  </a:lnTo>
                  <a:lnTo>
                    <a:pt x="126958" y="335870"/>
                  </a:lnTo>
                  <a:lnTo>
                    <a:pt x="134283" y="328012"/>
                  </a:lnTo>
                  <a:cubicBezTo>
                    <a:pt x="142379" y="319335"/>
                    <a:pt x="155981" y="318868"/>
                    <a:pt x="164658" y="326964"/>
                  </a:cubicBezTo>
                  <a:cubicBezTo>
                    <a:pt x="173326" y="335060"/>
                    <a:pt x="173802" y="348653"/>
                    <a:pt x="165706" y="357330"/>
                  </a:cubicBezTo>
                  <a:lnTo>
                    <a:pt x="158381" y="365188"/>
                  </a:lnTo>
                  <a:lnTo>
                    <a:pt x="337489" y="532304"/>
                  </a:lnTo>
                  <a:cubicBezTo>
                    <a:pt x="361892" y="515340"/>
                    <a:pt x="389191" y="502243"/>
                    <a:pt x="418490" y="493890"/>
                  </a:cubicBezTo>
                  <a:lnTo>
                    <a:pt x="418490" y="166516"/>
                  </a:lnTo>
                  <a:lnTo>
                    <a:pt x="386257" y="166516"/>
                  </a:lnTo>
                  <a:cubicBezTo>
                    <a:pt x="368455" y="166516"/>
                    <a:pt x="354025" y="152085"/>
                    <a:pt x="354025" y="134283"/>
                  </a:cubicBezTo>
                  <a:cubicBezTo>
                    <a:pt x="354025" y="116490"/>
                    <a:pt x="368455" y="102060"/>
                    <a:pt x="386257" y="102060"/>
                  </a:cubicBezTo>
                  <a:lnTo>
                    <a:pt x="418490" y="102060"/>
                  </a:lnTo>
                  <a:lnTo>
                    <a:pt x="418490" y="0"/>
                  </a:lnTo>
                  <a:lnTo>
                    <a:pt x="547401" y="0"/>
                  </a:lnTo>
                  <a:lnTo>
                    <a:pt x="547401" y="102060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88063" y="3516240"/>
              <a:ext cx="5425373" cy="64465"/>
            </a:xfrm>
            <a:custGeom>
              <a:avLst/>
              <a:gdLst/>
              <a:ahLst/>
              <a:cxnLst/>
              <a:rect l="0" t="0" r="0" b="0"/>
              <a:pathLst>
                <a:path w="5425373" h="64465">
                  <a:moveTo>
                    <a:pt x="0" y="64465"/>
                  </a:moveTo>
                  <a:lnTo>
                    <a:pt x="0" y="0"/>
                  </a:lnTo>
                  <a:lnTo>
                    <a:pt x="5425373" y="0"/>
                  </a:lnTo>
                  <a:lnTo>
                    <a:pt x="5425373" y="64465"/>
                  </a:lnTo>
                  <a:lnTo>
                    <a:pt x="0" y="64465"/>
                  </a:ln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417054" y="1453525"/>
              <a:ext cx="534476" cy="193376"/>
            </a:xfrm>
            <a:custGeom>
              <a:avLst/>
              <a:gdLst/>
              <a:ahLst/>
              <a:cxnLst/>
              <a:rect l="0" t="0" r="0" b="0"/>
              <a:pathLst>
                <a:path w="534476" h="193376">
                  <a:moveTo>
                    <a:pt x="0" y="53720"/>
                  </a:moveTo>
                  <a:lnTo>
                    <a:pt x="0" y="193376"/>
                  </a:lnTo>
                  <a:lnTo>
                    <a:pt x="72513" y="193376"/>
                  </a:lnTo>
                  <a:lnTo>
                    <a:pt x="72513" y="75199"/>
                  </a:lnTo>
                  <a:cubicBezTo>
                    <a:pt x="72513" y="69265"/>
                    <a:pt x="77323" y="64455"/>
                    <a:pt x="83258" y="64455"/>
                  </a:cubicBezTo>
                  <a:lnTo>
                    <a:pt x="534476" y="64455"/>
                  </a:lnTo>
                  <a:lnTo>
                    <a:pt x="534476" y="0"/>
                  </a:lnTo>
                  <a:lnTo>
                    <a:pt x="53711" y="0"/>
                  </a:lnTo>
                  <a:cubicBezTo>
                    <a:pt x="24050" y="0"/>
                    <a:pt x="0" y="24050"/>
                    <a:pt x="0" y="53720"/>
                  </a:cubicBezTo>
                </a:path>
              </a:pathLst>
            </a:custGeom>
            <a:solidFill>
              <a:srgbClr val="1355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288063" y="1453525"/>
            <a:ext cx="5425373" cy="2127175"/>
            <a:chOff x="3288063" y="1453525"/>
            <a:chExt cx="5425373" cy="2127175"/>
          </a:xfrm>
        </p:grpSpPr>
        <p:sp>
          <p:nvSpPr>
            <p:cNvPr id="13" name="Rounded Rectangle 12"/>
            <p:cNvSpPr/>
            <p:nvPr/>
          </p:nvSpPr>
          <p:spPr>
            <a:xfrm>
              <a:off x="3497557" y="2700477"/>
              <a:ext cx="515679" cy="815763"/>
            </a:xfrm>
            <a:custGeom>
              <a:avLst/>
              <a:gdLst/>
              <a:ahLst/>
              <a:cxnLst/>
              <a:rect l="0" t="0" r="0" b="0"/>
              <a:pathLst>
                <a:path w="515679" h="815763">
                  <a:moveTo>
                    <a:pt x="252984" y="4767"/>
                  </a:moveTo>
                  <a:lnTo>
                    <a:pt x="193379" y="171163"/>
                  </a:lnTo>
                  <a:cubicBezTo>
                    <a:pt x="179057" y="211442"/>
                    <a:pt x="171895" y="291996"/>
                    <a:pt x="257790" y="292026"/>
                  </a:cubicBezTo>
                  <a:cubicBezTo>
                    <a:pt x="225604" y="291988"/>
                    <a:pt x="221133" y="254416"/>
                    <a:pt x="222923" y="235625"/>
                  </a:cubicBezTo>
                  <a:cubicBezTo>
                    <a:pt x="227221" y="194800"/>
                    <a:pt x="249782" y="122819"/>
                    <a:pt x="257839" y="122819"/>
                  </a:cubicBezTo>
                  <a:cubicBezTo>
                    <a:pt x="265897" y="122819"/>
                    <a:pt x="292755" y="195337"/>
                    <a:pt x="295441" y="235625"/>
                  </a:cubicBezTo>
                  <a:cubicBezTo>
                    <a:pt x="296336" y="254415"/>
                    <a:pt x="290075" y="291988"/>
                    <a:pt x="257889" y="292026"/>
                  </a:cubicBezTo>
                  <a:cubicBezTo>
                    <a:pt x="359890" y="291987"/>
                    <a:pt x="327671" y="171163"/>
                    <a:pt x="327671" y="171163"/>
                  </a:cubicBezTo>
                  <a:lnTo>
                    <a:pt x="263048" y="4635"/>
                  </a:lnTo>
                  <a:cubicBezTo>
                    <a:pt x="261249" y="0"/>
                    <a:pt x="254660" y="86"/>
                    <a:pt x="252984" y="4767"/>
                  </a:cubicBezTo>
                  <a:close/>
                  <a:moveTo>
                    <a:pt x="0" y="815763"/>
                  </a:moveTo>
                  <a:lnTo>
                    <a:pt x="0" y="622383"/>
                  </a:lnTo>
                  <a:lnTo>
                    <a:pt x="193379" y="493463"/>
                  </a:lnTo>
                  <a:lnTo>
                    <a:pt x="193379" y="429004"/>
                  </a:lnTo>
                  <a:lnTo>
                    <a:pt x="155778" y="429004"/>
                  </a:lnTo>
                  <a:cubicBezTo>
                    <a:pt x="140944" y="429004"/>
                    <a:pt x="128919" y="416979"/>
                    <a:pt x="128919" y="402145"/>
                  </a:cubicBezTo>
                  <a:lnTo>
                    <a:pt x="128919" y="391402"/>
                  </a:lnTo>
                  <a:cubicBezTo>
                    <a:pt x="128919" y="376569"/>
                    <a:pt x="140944" y="364544"/>
                    <a:pt x="155778" y="364544"/>
                  </a:cubicBezTo>
                  <a:lnTo>
                    <a:pt x="257839" y="364544"/>
                  </a:lnTo>
                  <a:lnTo>
                    <a:pt x="359901" y="364544"/>
                  </a:lnTo>
                  <a:cubicBezTo>
                    <a:pt x="374734" y="364544"/>
                    <a:pt x="386759" y="376569"/>
                    <a:pt x="386759" y="391402"/>
                  </a:cubicBezTo>
                  <a:lnTo>
                    <a:pt x="386759" y="402145"/>
                  </a:lnTo>
                  <a:cubicBezTo>
                    <a:pt x="386759" y="416979"/>
                    <a:pt x="374734" y="429004"/>
                    <a:pt x="359901" y="429004"/>
                  </a:cubicBezTo>
                  <a:lnTo>
                    <a:pt x="322299" y="429004"/>
                  </a:lnTo>
                  <a:lnTo>
                    <a:pt x="322299" y="493463"/>
                  </a:lnTo>
                  <a:lnTo>
                    <a:pt x="515679" y="622383"/>
                  </a:lnTo>
                  <a:lnTo>
                    <a:pt x="515679" y="815763"/>
                  </a:lnTo>
                  <a:close/>
                  <a:moveTo>
                    <a:pt x="322299" y="579410"/>
                  </a:moveTo>
                  <a:lnTo>
                    <a:pt x="451219" y="659985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977519" y="3000562"/>
              <a:ext cx="558652" cy="515679"/>
            </a:xfrm>
            <a:custGeom>
              <a:avLst/>
              <a:gdLst/>
              <a:ahLst/>
              <a:cxnLst/>
              <a:rect l="0" t="0" r="0" b="0"/>
              <a:pathLst>
                <a:path w="558652" h="515679">
                  <a:moveTo>
                    <a:pt x="64460" y="64460"/>
                  </a:moveTo>
                  <a:lnTo>
                    <a:pt x="64460" y="515679"/>
                  </a:lnTo>
                  <a:lnTo>
                    <a:pt x="494192" y="515679"/>
                  </a:lnTo>
                  <a:lnTo>
                    <a:pt x="494192" y="64460"/>
                  </a:lnTo>
                  <a:lnTo>
                    <a:pt x="526422" y="64460"/>
                  </a:lnTo>
                  <a:cubicBezTo>
                    <a:pt x="544222" y="64460"/>
                    <a:pt x="558652" y="50029"/>
                    <a:pt x="558652" y="32230"/>
                  </a:cubicBezTo>
                  <a:cubicBezTo>
                    <a:pt x="558652" y="14429"/>
                    <a:pt x="544222" y="0"/>
                    <a:pt x="526422" y="0"/>
                  </a:cubicBezTo>
                  <a:lnTo>
                    <a:pt x="32230" y="0"/>
                  </a:lnTo>
                  <a:cubicBezTo>
                    <a:pt x="14429" y="0"/>
                    <a:pt x="0" y="14429"/>
                    <a:pt x="0" y="32230"/>
                  </a:cubicBezTo>
                  <a:cubicBezTo>
                    <a:pt x="0" y="50029"/>
                    <a:pt x="14429" y="64460"/>
                    <a:pt x="32230" y="64460"/>
                  </a:cubicBezTo>
                  <a:close/>
                  <a:moveTo>
                    <a:pt x="338414" y="91318"/>
                  </a:moveTo>
                  <a:lnTo>
                    <a:pt x="212180" y="91318"/>
                  </a:lnTo>
                  <a:moveTo>
                    <a:pt x="338414" y="220237"/>
                  </a:moveTo>
                  <a:lnTo>
                    <a:pt x="212180" y="220237"/>
                  </a:lnTo>
                  <a:moveTo>
                    <a:pt x="306184" y="155777"/>
                  </a:moveTo>
                  <a:lnTo>
                    <a:pt x="244410" y="155777"/>
                  </a:lnTo>
                  <a:moveTo>
                    <a:pt x="451218" y="64459"/>
                  </a:moveTo>
                  <a:lnTo>
                    <a:pt x="451218" y="284697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484128" y="1808054"/>
              <a:ext cx="658027" cy="580138"/>
            </a:xfrm>
            <a:custGeom>
              <a:avLst/>
              <a:gdLst/>
              <a:ahLst/>
              <a:cxnLst/>
              <a:rect l="0" t="0" r="0" b="0"/>
              <a:pathLst>
                <a:path w="658027" h="580138">
                  <a:moveTo>
                    <a:pt x="142348" y="580138"/>
                  </a:moveTo>
                  <a:cubicBezTo>
                    <a:pt x="94899" y="553280"/>
                    <a:pt x="0" y="464111"/>
                    <a:pt x="0" y="322299"/>
                  </a:cubicBezTo>
                  <a:cubicBezTo>
                    <a:pt x="0" y="180487"/>
                    <a:pt x="94899" y="119966"/>
                    <a:pt x="142348" y="107433"/>
                  </a:cubicBezTo>
                  <a:lnTo>
                    <a:pt x="142348" y="64459"/>
                  </a:lnTo>
                  <a:lnTo>
                    <a:pt x="110118" y="64459"/>
                  </a:lnTo>
                  <a:cubicBezTo>
                    <a:pt x="92318" y="64459"/>
                    <a:pt x="77889" y="50030"/>
                    <a:pt x="77889" y="32229"/>
                  </a:cubicBezTo>
                  <a:cubicBezTo>
                    <a:pt x="77889" y="14429"/>
                    <a:pt x="92318" y="0"/>
                    <a:pt x="110118" y="0"/>
                  </a:cubicBezTo>
                  <a:lnTo>
                    <a:pt x="432418" y="0"/>
                  </a:lnTo>
                  <a:cubicBezTo>
                    <a:pt x="450218" y="0"/>
                    <a:pt x="464648" y="14429"/>
                    <a:pt x="464648" y="32229"/>
                  </a:cubicBezTo>
                  <a:cubicBezTo>
                    <a:pt x="464648" y="50030"/>
                    <a:pt x="450218" y="64459"/>
                    <a:pt x="432418" y="64459"/>
                  </a:cubicBezTo>
                  <a:lnTo>
                    <a:pt x="400188" y="64459"/>
                  </a:lnTo>
                  <a:lnTo>
                    <a:pt x="400188" y="107433"/>
                  </a:lnTo>
                  <a:cubicBezTo>
                    <a:pt x="425509" y="114121"/>
                    <a:pt x="464344" y="134476"/>
                    <a:pt x="495058" y="173558"/>
                  </a:cubicBezTo>
                  <a:lnTo>
                    <a:pt x="512983" y="150058"/>
                  </a:lnTo>
                  <a:cubicBezTo>
                    <a:pt x="523144" y="136737"/>
                    <a:pt x="538939" y="128919"/>
                    <a:pt x="555694" y="128919"/>
                  </a:cubicBezTo>
                  <a:lnTo>
                    <a:pt x="658027" y="128919"/>
                  </a:lnTo>
                  <a:lnTo>
                    <a:pt x="658027" y="193379"/>
                  </a:lnTo>
                  <a:lnTo>
                    <a:pt x="590569" y="193379"/>
                  </a:lnTo>
                  <a:cubicBezTo>
                    <a:pt x="573837" y="193379"/>
                    <a:pt x="558062" y="201175"/>
                    <a:pt x="547898" y="214466"/>
                  </a:cubicBezTo>
                  <a:lnTo>
                    <a:pt x="529667" y="238307"/>
                  </a:lnTo>
                  <a:cubicBezTo>
                    <a:pt x="537701" y="262417"/>
                    <a:pt x="542537" y="290287"/>
                    <a:pt x="542537" y="322299"/>
                  </a:cubicBezTo>
                  <a:cubicBezTo>
                    <a:pt x="542537" y="464111"/>
                    <a:pt x="447637" y="553280"/>
                    <a:pt x="400188" y="580138"/>
                  </a:cubicBezTo>
                  <a:lnTo>
                    <a:pt x="142348" y="580138"/>
                  </a:lnTo>
                  <a:close/>
                  <a:moveTo>
                    <a:pt x="478237" y="247610"/>
                  </a:moveTo>
                  <a:cubicBezTo>
                    <a:pt x="495264" y="292353"/>
                    <a:pt x="497010" y="341327"/>
                    <a:pt x="483448" y="386957"/>
                  </a:cubicBezTo>
                  <a:cubicBezTo>
                    <a:pt x="482398" y="390493"/>
                    <a:pt x="481255" y="394009"/>
                    <a:pt x="480020" y="397502"/>
                  </a:cubicBezTo>
                  <a:moveTo>
                    <a:pt x="147720" y="343786"/>
                  </a:moveTo>
                  <a:cubicBezTo>
                    <a:pt x="147720" y="343786"/>
                    <a:pt x="147720" y="306184"/>
                    <a:pt x="185322" y="306184"/>
                  </a:cubicBezTo>
                  <a:cubicBezTo>
                    <a:pt x="225609" y="306184"/>
                    <a:pt x="225609" y="343786"/>
                    <a:pt x="225609" y="343786"/>
                  </a:cubicBezTo>
                  <a:moveTo>
                    <a:pt x="244410" y="306184"/>
                  </a:moveTo>
                  <a:cubicBezTo>
                    <a:pt x="244410" y="306184"/>
                    <a:pt x="244410" y="268582"/>
                    <a:pt x="282011" y="268582"/>
                  </a:cubicBezTo>
                  <a:cubicBezTo>
                    <a:pt x="322299" y="268582"/>
                    <a:pt x="322299" y="306184"/>
                    <a:pt x="322299" y="306184"/>
                  </a:cubicBezTo>
                  <a:moveTo>
                    <a:pt x="206808" y="236352"/>
                  </a:moveTo>
                  <a:cubicBezTo>
                    <a:pt x="206808" y="236352"/>
                    <a:pt x="206808" y="198751"/>
                    <a:pt x="244410" y="198751"/>
                  </a:cubicBezTo>
                  <a:cubicBezTo>
                    <a:pt x="284697" y="198751"/>
                    <a:pt x="284697" y="236352"/>
                    <a:pt x="284697" y="236352"/>
                  </a:cubicBezTo>
                  <a:moveTo>
                    <a:pt x="104747" y="273954"/>
                  </a:moveTo>
                  <a:cubicBezTo>
                    <a:pt x="104747" y="273954"/>
                    <a:pt x="104747" y="236352"/>
                    <a:pt x="142348" y="236352"/>
                  </a:cubicBezTo>
                  <a:cubicBezTo>
                    <a:pt x="182636" y="236352"/>
                    <a:pt x="182636" y="273954"/>
                    <a:pt x="182636" y="273954"/>
                  </a:cubicBezTo>
                  <a:moveTo>
                    <a:pt x="335728" y="247096"/>
                  </a:moveTo>
                  <a:cubicBezTo>
                    <a:pt x="335728" y="247096"/>
                    <a:pt x="335728" y="209494"/>
                    <a:pt x="373330" y="209494"/>
                  </a:cubicBezTo>
                  <a:cubicBezTo>
                    <a:pt x="413617" y="209494"/>
                    <a:pt x="413617" y="247096"/>
                    <a:pt x="413617" y="247096"/>
                  </a:cubicBezTo>
                  <a:moveTo>
                    <a:pt x="335728" y="343786"/>
                  </a:moveTo>
                  <a:cubicBezTo>
                    <a:pt x="335728" y="343786"/>
                    <a:pt x="335728" y="306184"/>
                    <a:pt x="373330" y="306184"/>
                  </a:cubicBezTo>
                  <a:cubicBezTo>
                    <a:pt x="413617" y="306184"/>
                    <a:pt x="413617" y="343786"/>
                    <a:pt x="413617" y="343786"/>
                  </a:cubicBez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58589" y="2162583"/>
              <a:ext cx="386759" cy="1353657"/>
            </a:xfrm>
            <a:custGeom>
              <a:avLst/>
              <a:gdLst/>
              <a:ahLst/>
              <a:cxnLst/>
              <a:rect l="0" t="0" r="0" b="0"/>
              <a:pathLst>
                <a:path w="386759" h="1353657">
                  <a:moveTo>
                    <a:pt x="0" y="1353657"/>
                  </a:moveTo>
                  <a:lnTo>
                    <a:pt x="0" y="1321427"/>
                  </a:lnTo>
                  <a:cubicBezTo>
                    <a:pt x="0" y="1303627"/>
                    <a:pt x="14429" y="1289197"/>
                    <a:pt x="32230" y="1289197"/>
                  </a:cubicBezTo>
                  <a:lnTo>
                    <a:pt x="32230" y="421675"/>
                  </a:lnTo>
                  <a:lnTo>
                    <a:pt x="64460" y="322299"/>
                  </a:lnTo>
                  <a:lnTo>
                    <a:pt x="64460" y="64459"/>
                  </a:lnTo>
                  <a:lnTo>
                    <a:pt x="32230" y="64459"/>
                  </a:lnTo>
                  <a:cubicBezTo>
                    <a:pt x="14429" y="64459"/>
                    <a:pt x="0" y="50030"/>
                    <a:pt x="0" y="32229"/>
                  </a:cubicBezTo>
                  <a:cubicBezTo>
                    <a:pt x="0" y="14429"/>
                    <a:pt x="14429" y="0"/>
                    <a:pt x="32230" y="0"/>
                  </a:cubicBezTo>
                  <a:lnTo>
                    <a:pt x="354529" y="0"/>
                  </a:lnTo>
                  <a:cubicBezTo>
                    <a:pt x="372329" y="0"/>
                    <a:pt x="386759" y="14429"/>
                    <a:pt x="386759" y="32229"/>
                  </a:cubicBezTo>
                  <a:cubicBezTo>
                    <a:pt x="386759" y="50030"/>
                    <a:pt x="372329" y="64459"/>
                    <a:pt x="354529" y="64459"/>
                  </a:cubicBezTo>
                  <a:lnTo>
                    <a:pt x="322299" y="64459"/>
                  </a:lnTo>
                  <a:lnTo>
                    <a:pt x="322299" y="322299"/>
                  </a:lnTo>
                  <a:lnTo>
                    <a:pt x="354529" y="421675"/>
                  </a:lnTo>
                  <a:lnTo>
                    <a:pt x="354529" y="1289197"/>
                  </a:lnTo>
                  <a:cubicBezTo>
                    <a:pt x="372329" y="1289197"/>
                    <a:pt x="386759" y="1303627"/>
                    <a:pt x="386759" y="1321427"/>
                  </a:cubicBezTo>
                  <a:lnTo>
                    <a:pt x="386759" y="1353657"/>
                  </a:lnTo>
                  <a:lnTo>
                    <a:pt x="0" y="1353657"/>
                  </a:lnTo>
                  <a:close/>
                  <a:moveTo>
                    <a:pt x="32230" y="1289197"/>
                  </a:moveTo>
                  <a:lnTo>
                    <a:pt x="354529" y="1289197"/>
                  </a:lnTo>
                  <a:lnTo>
                    <a:pt x="32230" y="1289197"/>
                  </a:lnTo>
                  <a:close/>
                  <a:moveTo>
                    <a:pt x="311555" y="429732"/>
                  </a:moveTo>
                  <a:lnTo>
                    <a:pt x="311555" y="870208"/>
                  </a:lnTo>
                  <a:moveTo>
                    <a:pt x="155777" y="870208"/>
                  </a:moveTo>
                  <a:lnTo>
                    <a:pt x="155777" y="64459"/>
                  </a:lnTo>
                  <a:moveTo>
                    <a:pt x="222923" y="64459"/>
                  </a:moveTo>
                  <a:lnTo>
                    <a:pt x="222923" y="870208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053594" y="2404308"/>
              <a:ext cx="1020615" cy="816491"/>
            </a:xfrm>
            <a:custGeom>
              <a:avLst/>
              <a:gdLst/>
              <a:ahLst/>
              <a:cxnLst/>
              <a:rect l="0" t="0" r="0" b="0"/>
              <a:pathLst>
                <a:path w="1020615" h="816491">
                  <a:moveTo>
                    <a:pt x="239038" y="80574"/>
                  </a:moveTo>
                  <a:lnTo>
                    <a:pt x="239038" y="0"/>
                  </a:lnTo>
                  <a:lnTo>
                    <a:pt x="376015" y="0"/>
                  </a:lnTo>
                  <a:lnTo>
                    <a:pt x="376015" y="80574"/>
                  </a:lnTo>
                  <a:lnTo>
                    <a:pt x="402874" y="80574"/>
                  </a:lnTo>
                  <a:cubicBezTo>
                    <a:pt x="420674" y="80574"/>
                    <a:pt x="435104" y="95004"/>
                    <a:pt x="435104" y="112804"/>
                  </a:cubicBezTo>
                  <a:cubicBezTo>
                    <a:pt x="435104" y="130604"/>
                    <a:pt x="420674" y="145034"/>
                    <a:pt x="402874" y="145034"/>
                  </a:cubicBezTo>
                  <a:lnTo>
                    <a:pt x="373330" y="145034"/>
                  </a:lnTo>
                  <a:lnTo>
                    <a:pt x="373330" y="217552"/>
                  </a:lnTo>
                  <a:cubicBezTo>
                    <a:pt x="478973" y="213075"/>
                    <a:pt x="756329" y="255690"/>
                    <a:pt x="1020615" y="461962"/>
                  </a:cubicBezTo>
                  <a:lnTo>
                    <a:pt x="983013" y="521052"/>
                  </a:lnTo>
                  <a:cubicBezTo>
                    <a:pt x="929358" y="481705"/>
                    <a:pt x="773206" y="400341"/>
                    <a:pt x="580139" y="389447"/>
                  </a:cubicBezTo>
                  <a:cubicBezTo>
                    <a:pt x="596968" y="427177"/>
                    <a:pt x="606997" y="469011"/>
                    <a:pt x="606997" y="512993"/>
                  </a:cubicBezTo>
                  <a:cubicBezTo>
                    <a:pt x="606997" y="680610"/>
                    <a:pt x="471116" y="816491"/>
                    <a:pt x="303498" y="816491"/>
                  </a:cubicBezTo>
                  <a:cubicBezTo>
                    <a:pt x="135880" y="816491"/>
                    <a:pt x="0" y="680610"/>
                    <a:pt x="0" y="512993"/>
                  </a:cubicBezTo>
                  <a:cubicBezTo>
                    <a:pt x="0" y="367494"/>
                    <a:pt x="102384" y="245909"/>
                    <a:pt x="239038" y="216353"/>
                  </a:cubicBezTo>
                  <a:lnTo>
                    <a:pt x="239038" y="145034"/>
                  </a:lnTo>
                  <a:lnTo>
                    <a:pt x="209494" y="145034"/>
                  </a:lnTo>
                  <a:cubicBezTo>
                    <a:pt x="191694" y="145034"/>
                    <a:pt x="177264" y="130604"/>
                    <a:pt x="177264" y="112804"/>
                  </a:cubicBezTo>
                  <a:cubicBezTo>
                    <a:pt x="177264" y="95004"/>
                    <a:pt x="191694" y="80574"/>
                    <a:pt x="209494" y="80574"/>
                  </a:cubicBezTo>
                  <a:lnTo>
                    <a:pt x="239038" y="80574"/>
                  </a:lnTo>
                  <a:close/>
                  <a:moveTo>
                    <a:pt x="239038" y="80574"/>
                  </a:moveTo>
                  <a:lnTo>
                    <a:pt x="376015" y="80574"/>
                  </a:lnTo>
                  <a:lnTo>
                    <a:pt x="239038" y="80574"/>
                  </a:lnTo>
                  <a:close/>
                  <a:moveTo>
                    <a:pt x="188008" y="461962"/>
                  </a:moveTo>
                  <a:cubicBezTo>
                    <a:pt x="188008" y="461962"/>
                    <a:pt x="188008" y="424360"/>
                    <a:pt x="225609" y="424360"/>
                  </a:cubicBezTo>
                  <a:cubicBezTo>
                    <a:pt x="265896" y="424360"/>
                    <a:pt x="265896" y="461962"/>
                    <a:pt x="265896" y="461962"/>
                  </a:cubicBezTo>
                  <a:moveTo>
                    <a:pt x="284697" y="424360"/>
                  </a:moveTo>
                  <a:cubicBezTo>
                    <a:pt x="284697" y="424360"/>
                    <a:pt x="284697" y="386759"/>
                    <a:pt x="322299" y="386759"/>
                  </a:cubicBezTo>
                  <a:cubicBezTo>
                    <a:pt x="362586" y="386759"/>
                    <a:pt x="362586" y="424360"/>
                    <a:pt x="362586" y="424360"/>
                  </a:cubicBezTo>
                  <a:moveTo>
                    <a:pt x="247096" y="354529"/>
                  </a:moveTo>
                  <a:cubicBezTo>
                    <a:pt x="247096" y="354529"/>
                    <a:pt x="247096" y="316927"/>
                    <a:pt x="284697" y="316927"/>
                  </a:cubicBezTo>
                  <a:cubicBezTo>
                    <a:pt x="324985" y="316927"/>
                    <a:pt x="324985" y="354529"/>
                    <a:pt x="324985" y="354529"/>
                  </a:cubicBezTo>
                  <a:moveTo>
                    <a:pt x="145034" y="392130"/>
                  </a:moveTo>
                  <a:cubicBezTo>
                    <a:pt x="145034" y="392130"/>
                    <a:pt x="145034" y="354529"/>
                    <a:pt x="182636" y="354529"/>
                  </a:cubicBezTo>
                  <a:cubicBezTo>
                    <a:pt x="222923" y="354529"/>
                    <a:pt x="222923" y="392130"/>
                    <a:pt x="222923" y="392130"/>
                  </a:cubicBezTo>
                  <a:moveTo>
                    <a:pt x="376015" y="365272"/>
                  </a:moveTo>
                  <a:cubicBezTo>
                    <a:pt x="376015" y="365272"/>
                    <a:pt x="376015" y="327670"/>
                    <a:pt x="413617" y="327670"/>
                  </a:cubicBezTo>
                  <a:cubicBezTo>
                    <a:pt x="453904" y="327670"/>
                    <a:pt x="453904" y="365272"/>
                    <a:pt x="453904" y="365272"/>
                  </a:cubicBezTo>
                  <a:moveTo>
                    <a:pt x="376015" y="461962"/>
                  </a:moveTo>
                  <a:cubicBezTo>
                    <a:pt x="376015" y="461962"/>
                    <a:pt x="376015" y="424360"/>
                    <a:pt x="413617" y="424360"/>
                  </a:cubicBezTo>
                  <a:cubicBezTo>
                    <a:pt x="453904" y="424360"/>
                    <a:pt x="453904" y="461962"/>
                    <a:pt x="453904" y="461962"/>
                  </a:cubicBezTo>
                  <a:moveTo>
                    <a:pt x="523332" y="373183"/>
                  </a:moveTo>
                  <a:cubicBezTo>
                    <a:pt x="549782" y="414773"/>
                    <a:pt x="564023" y="463710"/>
                    <a:pt x="564023" y="512992"/>
                  </a:cubicBez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818113" y="1517985"/>
              <a:ext cx="821863" cy="644599"/>
            </a:xfrm>
            <a:custGeom>
              <a:avLst/>
              <a:gdLst/>
              <a:ahLst/>
              <a:cxnLst/>
              <a:rect l="0" t="0" r="0" b="0"/>
              <a:pathLst>
                <a:path w="821863" h="644599">
                  <a:moveTo>
                    <a:pt x="193379" y="64459"/>
                  </a:moveTo>
                  <a:lnTo>
                    <a:pt x="0" y="64459"/>
                  </a:lnTo>
                  <a:lnTo>
                    <a:pt x="0" y="0"/>
                  </a:lnTo>
                  <a:lnTo>
                    <a:pt x="204123" y="0"/>
                  </a:lnTo>
                  <a:cubicBezTo>
                    <a:pt x="233790" y="0"/>
                    <a:pt x="257839" y="24049"/>
                    <a:pt x="257839" y="53716"/>
                  </a:cubicBezTo>
                  <a:lnTo>
                    <a:pt x="257839" y="106070"/>
                  </a:lnTo>
                  <a:cubicBezTo>
                    <a:pt x="304309" y="118981"/>
                    <a:pt x="338414" y="161598"/>
                    <a:pt x="338414" y="212181"/>
                  </a:cubicBezTo>
                  <a:cubicBezTo>
                    <a:pt x="338414" y="262764"/>
                    <a:pt x="304309" y="305381"/>
                    <a:pt x="257839" y="318292"/>
                  </a:cubicBezTo>
                  <a:lnTo>
                    <a:pt x="257839" y="386759"/>
                  </a:lnTo>
                  <a:lnTo>
                    <a:pt x="443161" y="386759"/>
                  </a:lnTo>
                  <a:cubicBezTo>
                    <a:pt x="452266" y="328223"/>
                    <a:pt x="487583" y="278497"/>
                    <a:pt x="537165" y="250351"/>
                  </a:cubicBezTo>
                  <a:lnTo>
                    <a:pt x="537165" y="196065"/>
                  </a:lnTo>
                  <a:cubicBezTo>
                    <a:pt x="537165" y="194582"/>
                    <a:pt x="535959" y="193391"/>
                    <a:pt x="534480" y="193269"/>
                  </a:cubicBezTo>
                  <a:cubicBezTo>
                    <a:pt x="517936" y="191905"/>
                    <a:pt x="504935" y="178045"/>
                    <a:pt x="504935" y="161149"/>
                  </a:cubicBezTo>
                  <a:cubicBezTo>
                    <a:pt x="504935" y="143349"/>
                    <a:pt x="519365" y="128919"/>
                    <a:pt x="537165" y="128919"/>
                  </a:cubicBezTo>
                  <a:lnTo>
                    <a:pt x="730545" y="128919"/>
                  </a:lnTo>
                  <a:cubicBezTo>
                    <a:pt x="748345" y="128919"/>
                    <a:pt x="762775" y="143349"/>
                    <a:pt x="762775" y="161149"/>
                  </a:cubicBezTo>
                  <a:cubicBezTo>
                    <a:pt x="762775" y="187400"/>
                    <a:pt x="743176" y="192270"/>
                    <a:pt x="735904" y="193173"/>
                  </a:cubicBezTo>
                  <a:cubicBezTo>
                    <a:pt x="734432" y="193356"/>
                    <a:pt x="733231" y="194582"/>
                    <a:pt x="733231" y="196065"/>
                  </a:cubicBezTo>
                  <a:lnTo>
                    <a:pt x="733231" y="255191"/>
                  </a:lnTo>
                  <a:cubicBezTo>
                    <a:pt x="786506" y="289011"/>
                    <a:pt x="821863" y="348528"/>
                    <a:pt x="821863" y="416303"/>
                  </a:cubicBezTo>
                  <a:cubicBezTo>
                    <a:pt x="821863" y="484078"/>
                    <a:pt x="786506" y="543594"/>
                    <a:pt x="733231" y="577414"/>
                  </a:cubicBezTo>
                  <a:lnTo>
                    <a:pt x="733231" y="644599"/>
                  </a:lnTo>
                  <a:lnTo>
                    <a:pt x="537165" y="644599"/>
                  </a:lnTo>
                  <a:lnTo>
                    <a:pt x="537165" y="580140"/>
                  </a:lnTo>
                  <a:cubicBezTo>
                    <a:pt x="489107" y="552858"/>
                    <a:pt x="454064" y="507419"/>
                    <a:pt x="443665" y="451220"/>
                  </a:cubicBezTo>
                  <a:lnTo>
                    <a:pt x="247096" y="451220"/>
                  </a:lnTo>
                  <a:cubicBezTo>
                    <a:pt x="217429" y="451220"/>
                    <a:pt x="193379" y="427170"/>
                    <a:pt x="193379" y="397503"/>
                  </a:cubicBezTo>
                  <a:lnTo>
                    <a:pt x="193379" y="316650"/>
                  </a:lnTo>
                  <a:cubicBezTo>
                    <a:pt x="149676" y="302049"/>
                    <a:pt x="118176" y="260794"/>
                    <a:pt x="118176" y="212181"/>
                  </a:cubicBezTo>
                  <a:cubicBezTo>
                    <a:pt x="118176" y="163568"/>
                    <a:pt x="149676" y="122312"/>
                    <a:pt x="193379" y="107712"/>
                  </a:cubicBezTo>
                  <a:close/>
                  <a:moveTo>
                    <a:pt x="598939" y="480763"/>
                  </a:moveTo>
                  <a:lnTo>
                    <a:pt x="598939" y="193379"/>
                  </a:lnTo>
                  <a:moveTo>
                    <a:pt x="668771" y="193379"/>
                  </a:moveTo>
                  <a:lnTo>
                    <a:pt x="668771" y="480763"/>
                  </a:lnTo>
                  <a:moveTo>
                    <a:pt x="719801" y="295441"/>
                  </a:moveTo>
                  <a:cubicBezTo>
                    <a:pt x="735271" y="305769"/>
                    <a:pt x="748638" y="319174"/>
                    <a:pt x="759140" y="334891"/>
                  </a:cubicBezTo>
                  <a:cubicBezTo>
                    <a:pt x="769643" y="350608"/>
                    <a:pt x="777075" y="368328"/>
                    <a:pt x="781011" y="387041"/>
                  </a:cubicBezTo>
                  <a:cubicBezTo>
                    <a:pt x="784948" y="405753"/>
                    <a:pt x="785312" y="425091"/>
                    <a:pt x="782084" y="443951"/>
                  </a:cubicBezTo>
                  <a:cubicBezTo>
                    <a:pt x="780395" y="453816"/>
                    <a:pt x="777740" y="463450"/>
                    <a:pt x="774174" y="472705"/>
                  </a:cubicBezTo>
                  <a:moveTo>
                    <a:pt x="252468" y="273954"/>
                  </a:moveTo>
                  <a:cubicBezTo>
                    <a:pt x="266792" y="268631"/>
                    <a:pt x="295441" y="249680"/>
                    <a:pt x="295441" y="216463"/>
                  </a:cubicBezTo>
                  <a:cubicBezTo>
                    <a:pt x="295441" y="183245"/>
                    <a:pt x="266792" y="162165"/>
                    <a:pt x="252468" y="155778"/>
                  </a:cubicBez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59084" y="2742722"/>
              <a:ext cx="376015" cy="709058"/>
            </a:xfrm>
            <a:custGeom>
              <a:avLst/>
              <a:gdLst/>
              <a:ahLst/>
              <a:cxnLst/>
              <a:rect l="0" t="0" r="0" b="0"/>
              <a:pathLst>
                <a:path w="376015" h="709058">
                  <a:moveTo>
                    <a:pt x="134291" y="0"/>
                  </a:moveTo>
                  <a:lnTo>
                    <a:pt x="37601" y="0"/>
                  </a:lnTo>
                  <a:lnTo>
                    <a:pt x="37601" y="75203"/>
                  </a:lnTo>
                  <a:lnTo>
                    <a:pt x="26858" y="75203"/>
                  </a:lnTo>
                  <a:cubicBezTo>
                    <a:pt x="12024" y="75203"/>
                    <a:pt x="0" y="87228"/>
                    <a:pt x="0" y="102061"/>
                  </a:cubicBezTo>
                  <a:cubicBezTo>
                    <a:pt x="0" y="116894"/>
                    <a:pt x="12024" y="128919"/>
                    <a:pt x="26858" y="128919"/>
                  </a:cubicBezTo>
                  <a:lnTo>
                    <a:pt x="37601" y="128919"/>
                  </a:lnTo>
                  <a:lnTo>
                    <a:pt x="37601" y="660713"/>
                  </a:lnTo>
                  <a:cubicBezTo>
                    <a:pt x="37601" y="687414"/>
                    <a:pt x="59246" y="709058"/>
                    <a:pt x="85946" y="709058"/>
                  </a:cubicBezTo>
                  <a:cubicBezTo>
                    <a:pt x="112646" y="709058"/>
                    <a:pt x="134291" y="687414"/>
                    <a:pt x="134291" y="660713"/>
                  </a:cubicBezTo>
                  <a:lnTo>
                    <a:pt x="134291" y="128919"/>
                  </a:lnTo>
                  <a:lnTo>
                    <a:pt x="145034" y="128919"/>
                  </a:lnTo>
                  <a:cubicBezTo>
                    <a:pt x="159867" y="128919"/>
                    <a:pt x="171892" y="116894"/>
                    <a:pt x="171892" y="102061"/>
                  </a:cubicBezTo>
                  <a:cubicBezTo>
                    <a:pt x="171892" y="87228"/>
                    <a:pt x="159867" y="75203"/>
                    <a:pt x="145034" y="75203"/>
                  </a:cubicBezTo>
                  <a:lnTo>
                    <a:pt x="134291" y="75203"/>
                  </a:lnTo>
                  <a:close/>
                  <a:moveTo>
                    <a:pt x="338414" y="0"/>
                  </a:moveTo>
                  <a:lnTo>
                    <a:pt x="241724" y="0"/>
                  </a:lnTo>
                  <a:lnTo>
                    <a:pt x="241724" y="75203"/>
                  </a:lnTo>
                  <a:lnTo>
                    <a:pt x="230981" y="75203"/>
                  </a:lnTo>
                  <a:cubicBezTo>
                    <a:pt x="216147" y="75203"/>
                    <a:pt x="204122" y="87228"/>
                    <a:pt x="204122" y="102061"/>
                  </a:cubicBezTo>
                  <a:cubicBezTo>
                    <a:pt x="204122" y="116894"/>
                    <a:pt x="216147" y="128919"/>
                    <a:pt x="230981" y="128919"/>
                  </a:cubicBezTo>
                  <a:lnTo>
                    <a:pt x="241724" y="128919"/>
                  </a:lnTo>
                  <a:lnTo>
                    <a:pt x="241724" y="660713"/>
                  </a:lnTo>
                  <a:cubicBezTo>
                    <a:pt x="241724" y="687414"/>
                    <a:pt x="263368" y="709058"/>
                    <a:pt x="290069" y="709058"/>
                  </a:cubicBezTo>
                  <a:cubicBezTo>
                    <a:pt x="316769" y="709058"/>
                    <a:pt x="338414" y="687414"/>
                    <a:pt x="338414" y="660713"/>
                  </a:cubicBezTo>
                  <a:lnTo>
                    <a:pt x="338414" y="128919"/>
                  </a:lnTo>
                  <a:lnTo>
                    <a:pt x="349157" y="128919"/>
                  </a:lnTo>
                  <a:cubicBezTo>
                    <a:pt x="363991" y="128919"/>
                    <a:pt x="376015" y="116894"/>
                    <a:pt x="376015" y="102061"/>
                  </a:cubicBezTo>
                  <a:cubicBezTo>
                    <a:pt x="376015" y="87228"/>
                    <a:pt x="363991" y="75203"/>
                    <a:pt x="349157" y="75203"/>
                  </a:cubicBezTo>
                  <a:lnTo>
                    <a:pt x="338414" y="75203"/>
                  </a:lnTo>
                  <a:close/>
                  <a:moveTo>
                    <a:pt x="134291" y="75203"/>
                  </a:moveTo>
                  <a:lnTo>
                    <a:pt x="37601" y="75203"/>
                  </a:lnTo>
                  <a:moveTo>
                    <a:pt x="338414" y="75203"/>
                  </a:moveTo>
                  <a:lnTo>
                    <a:pt x="241724" y="75203"/>
                  </a:lnTo>
                  <a:moveTo>
                    <a:pt x="316927" y="128919"/>
                  </a:moveTo>
                  <a:lnTo>
                    <a:pt x="316927" y="257839"/>
                  </a:lnTo>
                  <a:moveTo>
                    <a:pt x="316927" y="26858"/>
                  </a:moveTo>
                  <a:lnTo>
                    <a:pt x="316927" y="75203"/>
                  </a:lnTo>
                  <a:moveTo>
                    <a:pt x="112804" y="128919"/>
                  </a:moveTo>
                  <a:lnTo>
                    <a:pt x="112804" y="386759"/>
                  </a:lnTo>
                  <a:moveTo>
                    <a:pt x="112804" y="26858"/>
                  </a:moveTo>
                  <a:lnTo>
                    <a:pt x="112804" y="75203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055839" y="2189442"/>
              <a:ext cx="767645" cy="1031358"/>
            </a:xfrm>
            <a:custGeom>
              <a:avLst/>
              <a:gdLst/>
              <a:ahLst/>
              <a:cxnLst/>
              <a:rect l="0" t="0" r="0" b="0"/>
              <a:pathLst>
                <a:path w="767645" h="1031358">
                  <a:moveTo>
                    <a:pt x="767645" y="757403"/>
                  </a:moveTo>
                  <a:cubicBezTo>
                    <a:pt x="767645" y="908704"/>
                    <a:pt x="644992" y="1031358"/>
                    <a:pt x="493691" y="1031358"/>
                  </a:cubicBezTo>
                  <a:cubicBezTo>
                    <a:pt x="342390" y="1031358"/>
                    <a:pt x="219736" y="908704"/>
                    <a:pt x="219736" y="757403"/>
                  </a:cubicBezTo>
                  <a:cubicBezTo>
                    <a:pt x="219736" y="712861"/>
                    <a:pt x="230367" y="670802"/>
                    <a:pt x="249228" y="633623"/>
                  </a:cubicBezTo>
                  <a:lnTo>
                    <a:pt x="66768" y="463377"/>
                  </a:lnTo>
                  <a:lnTo>
                    <a:pt x="59438" y="471232"/>
                  </a:lnTo>
                  <a:cubicBezTo>
                    <a:pt x="51342" y="479909"/>
                    <a:pt x="37746" y="480379"/>
                    <a:pt x="29070" y="472284"/>
                  </a:cubicBezTo>
                  <a:cubicBezTo>
                    <a:pt x="20393" y="464188"/>
                    <a:pt x="19922" y="450592"/>
                    <a:pt x="28018" y="441915"/>
                  </a:cubicBezTo>
                  <a:lnTo>
                    <a:pt x="35347" y="434060"/>
                  </a:lnTo>
                  <a:lnTo>
                    <a:pt x="0" y="401079"/>
                  </a:lnTo>
                  <a:lnTo>
                    <a:pt x="91615" y="302891"/>
                  </a:lnTo>
                  <a:lnTo>
                    <a:pt x="126963" y="335872"/>
                  </a:lnTo>
                  <a:lnTo>
                    <a:pt x="134291" y="328017"/>
                  </a:lnTo>
                  <a:cubicBezTo>
                    <a:pt x="142387" y="319341"/>
                    <a:pt x="155983" y="318870"/>
                    <a:pt x="164660" y="326965"/>
                  </a:cubicBezTo>
                  <a:cubicBezTo>
                    <a:pt x="173336" y="335061"/>
                    <a:pt x="173807" y="348658"/>
                    <a:pt x="165711" y="357334"/>
                  </a:cubicBezTo>
                  <a:lnTo>
                    <a:pt x="158382" y="365189"/>
                  </a:lnTo>
                  <a:lnTo>
                    <a:pt x="337494" y="532310"/>
                  </a:lnTo>
                  <a:cubicBezTo>
                    <a:pt x="361897" y="515344"/>
                    <a:pt x="389191" y="502245"/>
                    <a:pt x="418488" y="493900"/>
                  </a:cubicBezTo>
                  <a:lnTo>
                    <a:pt x="418488" y="166521"/>
                  </a:lnTo>
                  <a:lnTo>
                    <a:pt x="386258" y="166521"/>
                  </a:lnTo>
                  <a:cubicBezTo>
                    <a:pt x="368458" y="166521"/>
                    <a:pt x="354028" y="152091"/>
                    <a:pt x="354028" y="134291"/>
                  </a:cubicBezTo>
                  <a:cubicBezTo>
                    <a:pt x="354028" y="116491"/>
                    <a:pt x="368458" y="102061"/>
                    <a:pt x="386258" y="102061"/>
                  </a:cubicBezTo>
                  <a:lnTo>
                    <a:pt x="418488" y="102061"/>
                  </a:lnTo>
                  <a:lnTo>
                    <a:pt x="418488" y="0"/>
                  </a:lnTo>
                  <a:lnTo>
                    <a:pt x="547408" y="0"/>
                  </a:lnTo>
                  <a:lnTo>
                    <a:pt x="547408" y="102061"/>
                  </a:lnTo>
                  <a:lnTo>
                    <a:pt x="579637" y="102061"/>
                  </a:lnTo>
                  <a:cubicBezTo>
                    <a:pt x="597437" y="102061"/>
                    <a:pt x="611867" y="116491"/>
                    <a:pt x="611867" y="134291"/>
                  </a:cubicBezTo>
                  <a:cubicBezTo>
                    <a:pt x="611867" y="152091"/>
                    <a:pt x="597437" y="166521"/>
                    <a:pt x="579637" y="166521"/>
                  </a:cubicBezTo>
                  <a:lnTo>
                    <a:pt x="547408" y="166521"/>
                  </a:lnTo>
                  <a:lnTo>
                    <a:pt x="547408" y="488820"/>
                  </a:lnTo>
                  <a:cubicBezTo>
                    <a:pt x="672721" y="513996"/>
                    <a:pt x="767645" y="624676"/>
                    <a:pt x="767645" y="757403"/>
                  </a:cubicBezTo>
                  <a:close/>
                  <a:moveTo>
                    <a:pt x="418488" y="102061"/>
                  </a:moveTo>
                  <a:lnTo>
                    <a:pt x="450718" y="102061"/>
                  </a:lnTo>
                  <a:lnTo>
                    <a:pt x="547408" y="102061"/>
                  </a:lnTo>
                  <a:moveTo>
                    <a:pt x="35347" y="434060"/>
                  </a:moveTo>
                  <a:lnTo>
                    <a:pt x="126963" y="335872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288063" y="3516241"/>
              <a:ext cx="5425373" cy="64459"/>
            </a:xfrm>
            <a:custGeom>
              <a:avLst/>
              <a:gdLst/>
              <a:ahLst/>
              <a:cxnLst/>
              <a:rect l="0" t="0" r="0" b="0"/>
              <a:pathLst>
                <a:path w="5425373" h="64459">
                  <a:moveTo>
                    <a:pt x="0" y="64459"/>
                  </a:moveTo>
                  <a:lnTo>
                    <a:pt x="0" y="0"/>
                  </a:lnTo>
                  <a:lnTo>
                    <a:pt x="5425373" y="0"/>
                  </a:lnTo>
                  <a:lnTo>
                    <a:pt x="5425373" y="64459"/>
                  </a:lnTo>
                  <a:lnTo>
                    <a:pt x="0" y="64459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549530" y="1453525"/>
              <a:ext cx="1842478" cy="1493320"/>
            </a:xfrm>
            <a:custGeom>
              <a:avLst/>
              <a:gdLst/>
              <a:ahLst/>
              <a:cxnLst/>
              <a:rect l="0" t="0" r="0" b="0"/>
              <a:pathLst>
                <a:path w="1842478" h="1493320">
                  <a:moveTo>
                    <a:pt x="867522" y="53716"/>
                  </a:moveTo>
                  <a:lnTo>
                    <a:pt x="867522" y="193379"/>
                  </a:lnTo>
                  <a:lnTo>
                    <a:pt x="940040" y="193379"/>
                  </a:lnTo>
                  <a:lnTo>
                    <a:pt x="940040" y="75203"/>
                  </a:lnTo>
                  <a:cubicBezTo>
                    <a:pt x="940040" y="69269"/>
                    <a:pt x="944849" y="64459"/>
                    <a:pt x="950783" y="64459"/>
                  </a:cubicBezTo>
                  <a:lnTo>
                    <a:pt x="1402002" y="64459"/>
                  </a:lnTo>
                  <a:lnTo>
                    <a:pt x="1402002" y="0"/>
                  </a:lnTo>
                  <a:lnTo>
                    <a:pt x="921239" y="0"/>
                  </a:lnTo>
                  <a:cubicBezTo>
                    <a:pt x="891572" y="0"/>
                    <a:pt x="867522" y="24049"/>
                    <a:pt x="867522" y="53716"/>
                  </a:cubicBezTo>
                  <a:close/>
                  <a:moveTo>
                    <a:pt x="209494" y="1493320"/>
                  </a:moveTo>
                  <a:cubicBezTo>
                    <a:pt x="209494" y="1437759"/>
                    <a:pt x="187422" y="1384473"/>
                    <a:pt x="148135" y="1345185"/>
                  </a:cubicBezTo>
                  <a:cubicBezTo>
                    <a:pt x="129195" y="1324732"/>
                    <a:pt x="73054" y="1283826"/>
                    <a:pt x="0" y="1283826"/>
                  </a:cubicBezTo>
                  <a:lnTo>
                    <a:pt x="0" y="902438"/>
                  </a:lnTo>
                  <a:moveTo>
                    <a:pt x="16115" y="837978"/>
                  </a:moveTo>
                  <a:lnTo>
                    <a:pt x="16115" y="770832"/>
                  </a:lnTo>
                  <a:moveTo>
                    <a:pt x="1842478" y="1031358"/>
                  </a:moveTo>
                  <a:lnTo>
                    <a:pt x="1842478" y="977641"/>
                  </a:lnTo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8084953" y="3285259"/>
            <a:ext cx="343785" cy="230981"/>
          </a:xfrm>
          <a:custGeom>
            <a:avLst/>
            <a:gdLst/>
            <a:ahLst/>
            <a:cxnLst/>
            <a:rect l="0" t="0" r="0" b="0"/>
            <a:pathLst>
              <a:path w="343785" h="230981">
                <a:moveTo>
                  <a:pt x="343785" y="230981"/>
                </a:moveTo>
                <a:lnTo>
                  <a:pt x="0" y="230981"/>
                </a:lnTo>
                <a:lnTo>
                  <a:pt x="0" y="0"/>
                </a:lnTo>
                <a:lnTo>
                  <a:pt x="343785" y="0"/>
                </a:lnTo>
                <a:lnTo>
                  <a:pt x="343785" y="230981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84953" y="3285259"/>
            <a:ext cx="343786" cy="230981"/>
          </a:xfrm>
          <a:custGeom>
            <a:avLst/>
            <a:gdLst/>
            <a:ahLst/>
            <a:cxnLst/>
            <a:rect l="0" t="0" r="0" b="0"/>
            <a:pathLst>
              <a:path w="343786" h="230981">
                <a:moveTo>
                  <a:pt x="343786" y="230981"/>
                </a:moveTo>
                <a:lnTo>
                  <a:pt x="0" y="230981"/>
                </a:lnTo>
                <a:lnTo>
                  <a:pt x="0" y="0"/>
                </a:lnTo>
                <a:lnTo>
                  <a:pt x="343786" y="0"/>
                </a:lnTo>
                <a:lnTo>
                  <a:pt x="343786" y="230981"/>
                </a:lnTo>
                <a:close/>
                <a:moveTo>
                  <a:pt x="104747" y="64459"/>
                </a:moveTo>
                <a:lnTo>
                  <a:pt x="230981" y="64459"/>
                </a:lnTo>
                <a:moveTo>
                  <a:pt x="104747" y="193379"/>
                </a:moveTo>
                <a:lnTo>
                  <a:pt x="230981" y="193379"/>
                </a:lnTo>
                <a:moveTo>
                  <a:pt x="136977" y="128919"/>
                </a:moveTo>
                <a:lnTo>
                  <a:pt x="198751" y="128919"/>
                </a:lnTo>
              </a:path>
            </a:pathLst>
          </a:custGeom>
          <a:noFill/>
          <a:ln w="8058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096567" y="2917301"/>
            <a:ext cx="521046" cy="260527"/>
          </a:xfrm>
          <a:custGeom>
            <a:avLst/>
            <a:gdLst/>
            <a:ahLst/>
            <a:cxnLst/>
            <a:rect l="0" t="0" r="0" b="0"/>
            <a:pathLst>
              <a:path w="521046" h="260527">
                <a:moveTo>
                  <a:pt x="521046" y="0"/>
                </a:moveTo>
                <a:cubicBezTo>
                  <a:pt x="521046" y="34213"/>
                  <a:pt x="514311" y="68094"/>
                  <a:pt x="501215" y="99698"/>
                </a:cubicBezTo>
                <a:cubicBezTo>
                  <a:pt x="488127" y="131311"/>
                  <a:pt x="468934" y="160029"/>
                  <a:pt x="444741" y="184223"/>
                </a:cubicBezTo>
                <a:cubicBezTo>
                  <a:pt x="420547" y="208406"/>
                  <a:pt x="391829" y="227599"/>
                  <a:pt x="360225" y="240696"/>
                </a:cubicBezTo>
                <a:cubicBezTo>
                  <a:pt x="328612" y="253784"/>
                  <a:pt x="294741" y="260527"/>
                  <a:pt x="260527" y="260527"/>
                </a:cubicBezTo>
                <a:cubicBezTo>
                  <a:pt x="226313" y="260527"/>
                  <a:pt x="192433" y="253784"/>
                  <a:pt x="160829" y="240696"/>
                </a:cubicBezTo>
                <a:cubicBezTo>
                  <a:pt x="129216" y="227599"/>
                  <a:pt x="100498" y="208406"/>
                  <a:pt x="76304" y="184223"/>
                </a:cubicBezTo>
                <a:cubicBezTo>
                  <a:pt x="52111" y="160029"/>
                  <a:pt x="32927" y="131311"/>
                  <a:pt x="19831" y="99698"/>
                </a:cubicBezTo>
                <a:cubicBezTo>
                  <a:pt x="6734" y="68094"/>
                  <a:pt x="0" y="34213"/>
                  <a:pt x="0" y="0"/>
                </a:cubicBezTo>
                <a:lnTo>
                  <a:pt x="521046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96567" y="2917301"/>
            <a:ext cx="521050" cy="260525"/>
          </a:xfrm>
          <a:custGeom>
            <a:avLst/>
            <a:gdLst/>
            <a:ahLst/>
            <a:cxnLst/>
            <a:rect l="0" t="0" r="0" b="0"/>
            <a:pathLst>
              <a:path w="521050" h="260525">
                <a:moveTo>
                  <a:pt x="260525" y="260525"/>
                </a:moveTo>
                <a:cubicBezTo>
                  <a:pt x="226312" y="260525"/>
                  <a:pt x="192434" y="253786"/>
                  <a:pt x="160826" y="240694"/>
                </a:cubicBezTo>
                <a:cubicBezTo>
                  <a:pt x="129218" y="227601"/>
                  <a:pt x="100498" y="208411"/>
                  <a:pt x="76305" y="184219"/>
                </a:cubicBezTo>
                <a:cubicBezTo>
                  <a:pt x="52114" y="160027"/>
                  <a:pt x="32923" y="131306"/>
                  <a:pt x="19831" y="99698"/>
                </a:cubicBezTo>
                <a:cubicBezTo>
                  <a:pt x="6738" y="68090"/>
                  <a:pt x="0" y="34212"/>
                  <a:pt x="0" y="0"/>
                </a:cubicBezTo>
                <a:lnTo>
                  <a:pt x="521050" y="0"/>
                </a:lnTo>
                <a:cubicBezTo>
                  <a:pt x="521050" y="34212"/>
                  <a:pt x="514311" y="68090"/>
                  <a:pt x="501219" y="99698"/>
                </a:cubicBezTo>
                <a:cubicBezTo>
                  <a:pt x="488126" y="131306"/>
                  <a:pt x="468936" y="160027"/>
                  <a:pt x="444744" y="184219"/>
                </a:cubicBezTo>
                <a:cubicBezTo>
                  <a:pt x="420552" y="208411"/>
                  <a:pt x="391832" y="227601"/>
                  <a:pt x="360224" y="240694"/>
                </a:cubicBezTo>
                <a:cubicBezTo>
                  <a:pt x="328615" y="253786"/>
                  <a:pt x="294737" y="260525"/>
                  <a:pt x="260525" y="260525"/>
                </a:cubicBezTo>
                <a:close/>
              </a:path>
            </a:pathLst>
          </a:custGeom>
          <a:noFill/>
          <a:ln w="8058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" name="Group 29"/>
          <p:cNvGrpSpPr/>
          <p:nvPr/>
        </p:nvGrpSpPr>
        <p:grpSpPr>
          <a:xfrm>
            <a:off x="6306934" y="1988005"/>
            <a:ext cx="284702" cy="1420806"/>
            <a:chOff x="6306934" y="1988005"/>
            <a:chExt cx="284702" cy="1420806"/>
          </a:xfrm>
        </p:grpSpPr>
        <p:sp>
          <p:nvSpPr>
            <p:cNvPr id="28" name="Rounded Rectangle 27"/>
            <p:cNvSpPr/>
            <p:nvPr/>
          </p:nvSpPr>
          <p:spPr>
            <a:xfrm>
              <a:off x="6306934" y="1988005"/>
              <a:ext cx="284702" cy="134292"/>
            </a:xfrm>
            <a:custGeom>
              <a:avLst/>
              <a:gdLst/>
              <a:ahLst/>
              <a:cxnLst/>
              <a:rect l="0" t="0" r="0" b="0"/>
              <a:pathLst>
                <a:path w="284702" h="134292">
                  <a:moveTo>
                    <a:pt x="0" y="0"/>
                  </a:moveTo>
                  <a:lnTo>
                    <a:pt x="284702" y="0"/>
                  </a:lnTo>
                  <a:cubicBezTo>
                    <a:pt x="284702" y="0"/>
                    <a:pt x="277825" y="18802"/>
                    <a:pt x="257051" y="45662"/>
                  </a:cubicBezTo>
                  <a:cubicBezTo>
                    <a:pt x="236277" y="72513"/>
                    <a:pt x="202520" y="85944"/>
                    <a:pt x="202520" y="85944"/>
                  </a:cubicBezTo>
                  <a:lnTo>
                    <a:pt x="202520" y="134292"/>
                  </a:lnTo>
                  <a:lnTo>
                    <a:pt x="88277" y="134292"/>
                  </a:lnTo>
                  <a:lnTo>
                    <a:pt x="88277" y="88630"/>
                  </a:lnTo>
                  <a:cubicBezTo>
                    <a:pt x="88277" y="88630"/>
                    <a:pt x="51054" y="74742"/>
                    <a:pt x="28565" y="45662"/>
                  </a:cubicBezTo>
                  <a:cubicBezTo>
                    <a:pt x="7791" y="18802"/>
                    <a:pt x="0" y="0"/>
                    <a:pt x="0" y="0"/>
                  </a:cubicBez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333795" y="3032793"/>
              <a:ext cx="236353" cy="376018"/>
            </a:xfrm>
            <a:custGeom>
              <a:avLst/>
              <a:gdLst/>
              <a:ahLst/>
              <a:cxnLst/>
              <a:rect l="0" t="0" r="0" b="0"/>
              <a:pathLst>
                <a:path w="236353" h="376018">
                  <a:moveTo>
                    <a:pt x="0" y="0"/>
                  </a:moveTo>
                  <a:lnTo>
                    <a:pt x="0" y="376018"/>
                  </a:lnTo>
                  <a:lnTo>
                    <a:pt x="236353" y="376018"/>
                  </a:lnTo>
                  <a:lnTo>
                    <a:pt x="236353" y="0"/>
                  </a:lnTo>
                  <a:lnTo>
                    <a:pt x="0" y="0"/>
                  </a:ln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306934" y="1988005"/>
            <a:ext cx="284697" cy="1420802"/>
            <a:chOff x="6306934" y="1988005"/>
            <a:chExt cx="284697" cy="1420802"/>
          </a:xfrm>
        </p:grpSpPr>
        <p:sp>
          <p:nvSpPr>
            <p:cNvPr id="31" name="Rounded Rectangle 30"/>
            <p:cNvSpPr/>
            <p:nvPr/>
          </p:nvSpPr>
          <p:spPr>
            <a:xfrm>
              <a:off x="6306934" y="1988005"/>
              <a:ext cx="284697" cy="134291"/>
            </a:xfrm>
            <a:custGeom>
              <a:avLst/>
              <a:gdLst/>
              <a:ahLst/>
              <a:cxnLst/>
              <a:rect l="0" t="0" r="0" b="0"/>
              <a:pathLst>
                <a:path w="284697" h="134291">
                  <a:moveTo>
                    <a:pt x="201876" y="134291"/>
                  </a:moveTo>
                  <a:lnTo>
                    <a:pt x="87997" y="134291"/>
                  </a:lnTo>
                  <a:lnTo>
                    <a:pt x="87997" y="88632"/>
                  </a:lnTo>
                  <a:cubicBezTo>
                    <a:pt x="87997" y="88632"/>
                    <a:pt x="50892" y="74745"/>
                    <a:pt x="28469" y="45659"/>
                  </a:cubicBezTo>
                  <a:cubicBezTo>
                    <a:pt x="7764" y="18800"/>
                    <a:pt x="0" y="0"/>
                    <a:pt x="0" y="0"/>
                  </a:cubicBezTo>
                  <a:lnTo>
                    <a:pt x="284697" y="0"/>
                  </a:lnTo>
                  <a:cubicBezTo>
                    <a:pt x="284697" y="0"/>
                    <a:pt x="282813" y="8057"/>
                    <a:pt x="274345" y="21486"/>
                  </a:cubicBezTo>
                  <a:cubicBezTo>
                    <a:pt x="256654" y="49539"/>
                    <a:pt x="231979" y="75539"/>
                    <a:pt x="201876" y="88632"/>
                  </a:cubicBezTo>
                  <a:lnTo>
                    <a:pt x="201876" y="134291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333793" y="3032792"/>
              <a:ext cx="236352" cy="376015"/>
            </a:xfrm>
            <a:custGeom>
              <a:avLst/>
              <a:gdLst/>
              <a:ahLst/>
              <a:cxnLst/>
              <a:rect l="0" t="0" r="0" b="0"/>
              <a:pathLst>
                <a:path w="236352" h="376015">
                  <a:moveTo>
                    <a:pt x="0" y="0"/>
                  </a:moveTo>
                  <a:lnTo>
                    <a:pt x="0" y="376015"/>
                  </a:lnTo>
                  <a:lnTo>
                    <a:pt x="236352" y="376015"/>
                  </a:lnTo>
                  <a:lnTo>
                    <a:pt x="23635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5340036" y="2946845"/>
            <a:ext cx="418985" cy="209492"/>
          </a:xfrm>
          <a:custGeom>
            <a:avLst/>
            <a:gdLst/>
            <a:ahLst/>
            <a:cxnLst/>
            <a:rect l="0" t="0" r="0" b="0"/>
            <a:pathLst>
              <a:path w="418985" h="209492">
                <a:moveTo>
                  <a:pt x="418985" y="0"/>
                </a:moveTo>
                <a:cubicBezTo>
                  <a:pt x="418985" y="27508"/>
                  <a:pt x="413565" y="54749"/>
                  <a:pt x="403040" y="80171"/>
                </a:cubicBezTo>
                <a:cubicBezTo>
                  <a:pt x="392515" y="105584"/>
                  <a:pt x="377085" y="128682"/>
                  <a:pt x="357625" y="148132"/>
                </a:cubicBezTo>
                <a:cubicBezTo>
                  <a:pt x="338175" y="167592"/>
                  <a:pt x="315077" y="183022"/>
                  <a:pt x="289664" y="193547"/>
                </a:cubicBezTo>
                <a:cubicBezTo>
                  <a:pt x="264252" y="204073"/>
                  <a:pt x="237001" y="209492"/>
                  <a:pt x="209492" y="209492"/>
                </a:cubicBezTo>
                <a:cubicBezTo>
                  <a:pt x="181984" y="209492"/>
                  <a:pt x="154743" y="204073"/>
                  <a:pt x="129320" y="193547"/>
                </a:cubicBezTo>
                <a:cubicBezTo>
                  <a:pt x="103908" y="183022"/>
                  <a:pt x="80810" y="167592"/>
                  <a:pt x="61360" y="148132"/>
                </a:cubicBezTo>
                <a:cubicBezTo>
                  <a:pt x="41909" y="128682"/>
                  <a:pt x="26479" y="105584"/>
                  <a:pt x="15944" y="80171"/>
                </a:cubicBezTo>
                <a:cubicBezTo>
                  <a:pt x="5419" y="54749"/>
                  <a:pt x="0" y="27508"/>
                  <a:pt x="0" y="0"/>
                </a:cubicBezTo>
                <a:lnTo>
                  <a:pt x="418985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340036" y="2946845"/>
            <a:ext cx="418989" cy="209494"/>
          </a:xfrm>
          <a:custGeom>
            <a:avLst/>
            <a:gdLst/>
            <a:ahLst/>
            <a:cxnLst/>
            <a:rect l="0" t="0" r="0" b="0"/>
            <a:pathLst>
              <a:path w="418989" h="209494">
                <a:moveTo>
                  <a:pt x="209494" y="209494"/>
                </a:moveTo>
                <a:cubicBezTo>
                  <a:pt x="153933" y="209494"/>
                  <a:pt x="100647" y="187423"/>
                  <a:pt x="61359" y="148135"/>
                </a:cubicBezTo>
                <a:cubicBezTo>
                  <a:pt x="22071" y="108847"/>
                  <a:pt x="0" y="55561"/>
                  <a:pt x="0" y="0"/>
                </a:cubicBezTo>
                <a:lnTo>
                  <a:pt x="418989" y="0"/>
                </a:lnTo>
                <a:cubicBezTo>
                  <a:pt x="418989" y="55561"/>
                  <a:pt x="396917" y="108846"/>
                  <a:pt x="357629" y="148134"/>
                </a:cubicBezTo>
                <a:cubicBezTo>
                  <a:pt x="318341" y="187422"/>
                  <a:pt x="265055" y="209494"/>
                  <a:pt x="209494" y="209494"/>
                </a:cubicBezTo>
                <a:close/>
                <a:moveTo>
                  <a:pt x="155778" y="75203"/>
                </a:moveTo>
                <a:cubicBezTo>
                  <a:pt x="146877" y="75203"/>
                  <a:pt x="139663" y="82417"/>
                  <a:pt x="139663" y="91318"/>
                </a:cubicBezTo>
                <a:cubicBezTo>
                  <a:pt x="139663" y="100218"/>
                  <a:pt x="146877" y="107433"/>
                  <a:pt x="155778" y="107433"/>
                </a:cubicBezTo>
                <a:cubicBezTo>
                  <a:pt x="164678" y="107433"/>
                  <a:pt x="171892" y="100218"/>
                  <a:pt x="171892" y="91318"/>
                </a:cubicBezTo>
                <a:cubicBezTo>
                  <a:pt x="171892" y="82417"/>
                  <a:pt x="164678" y="75203"/>
                  <a:pt x="155778" y="75203"/>
                </a:cubicBezTo>
                <a:close/>
                <a:moveTo>
                  <a:pt x="241724" y="75203"/>
                </a:moveTo>
                <a:cubicBezTo>
                  <a:pt x="232824" y="75203"/>
                  <a:pt x="225609" y="82417"/>
                  <a:pt x="225609" y="91318"/>
                </a:cubicBezTo>
                <a:cubicBezTo>
                  <a:pt x="225609" y="100218"/>
                  <a:pt x="232824" y="107433"/>
                  <a:pt x="241724" y="107433"/>
                </a:cubicBezTo>
                <a:cubicBezTo>
                  <a:pt x="250624" y="107433"/>
                  <a:pt x="257839" y="100218"/>
                  <a:pt x="257839" y="91318"/>
                </a:cubicBezTo>
                <a:cubicBezTo>
                  <a:pt x="257839" y="82417"/>
                  <a:pt x="250624" y="75203"/>
                  <a:pt x="241724" y="75203"/>
                </a:cubicBezTo>
                <a:close/>
                <a:moveTo>
                  <a:pt x="263211" y="134291"/>
                </a:moveTo>
                <a:cubicBezTo>
                  <a:pt x="254310" y="134291"/>
                  <a:pt x="247096" y="141506"/>
                  <a:pt x="247096" y="150406"/>
                </a:cubicBezTo>
                <a:cubicBezTo>
                  <a:pt x="247096" y="159306"/>
                  <a:pt x="254310" y="166521"/>
                  <a:pt x="263211" y="166521"/>
                </a:cubicBezTo>
                <a:cubicBezTo>
                  <a:pt x="272111" y="166521"/>
                  <a:pt x="279326" y="159306"/>
                  <a:pt x="279326" y="150406"/>
                </a:cubicBezTo>
                <a:cubicBezTo>
                  <a:pt x="279326" y="141506"/>
                  <a:pt x="272111" y="134291"/>
                  <a:pt x="263211" y="134291"/>
                </a:cubicBezTo>
                <a:close/>
                <a:moveTo>
                  <a:pt x="188007" y="134291"/>
                </a:moveTo>
                <a:cubicBezTo>
                  <a:pt x="179107" y="134291"/>
                  <a:pt x="171892" y="141506"/>
                  <a:pt x="171892" y="150406"/>
                </a:cubicBezTo>
                <a:cubicBezTo>
                  <a:pt x="171892" y="159306"/>
                  <a:pt x="179107" y="166521"/>
                  <a:pt x="188007" y="166521"/>
                </a:cubicBezTo>
                <a:cubicBezTo>
                  <a:pt x="196908" y="166521"/>
                  <a:pt x="204122" y="159306"/>
                  <a:pt x="204122" y="150406"/>
                </a:cubicBezTo>
                <a:cubicBezTo>
                  <a:pt x="204122" y="141506"/>
                  <a:pt x="196908" y="134291"/>
                  <a:pt x="188007" y="134291"/>
                </a:cubicBezTo>
                <a:close/>
                <a:moveTo>
                  <a:pt x="102061" y="26858"/>
                </a:moveTo>
                <a:cubicBezTo>
                  <a:pt x="93161" y="26858"/>
                  <a:pt x="85946" y="34072"/>
                  <a:pt x="85946" y="42973"/>
                </a:cubicBezTo>
                <a:cubicBezTo>
                  <a:pt x="85946" y="51873"/>
                  <a:pt x="93161" y="59088"/>
                  <a:pt x="102061" y="59088"/>
                </a:cubicBezTo>
                <a:cubicBezTo>
                  <a:pt x="110961" y="59088"/>
                  <a:pt x="118176" y="51873"/>
                  <a:pt x="118176" y="42973"/>
                </a:cubicBezTo>
                <a:cubicBezTo>
                  <a:pt x="118176" y="34072"/>
                  <a:pt x="110961" y="26858"/>
                  <a:pt x="102061" y="26858"/>
                </a:cubicBezTo>
                <a:close/>
                <a:moveTo>
                  <a:pt x="96689" y="96689"/>
                </a:moveTo>
                <a:cubicBezTo>
                  <a:pt x="87789" y="96689"/>
                  <a:pt x="80574" y="103904"/>
                  <a:pt x="80574" y="112804"/>
                </a:cubicBezTo>
                <a:cubicBezTo>
                  <a:pt x="80574" y="121705"/>
                  <a:pt x="87789" y="128919"/>
                  <a:pt x="96689" y="128919"/>
                </a:cubicBezTo>
                <a:cubicBezTo>
                  <a:pt x="105590" y="128919"/>
                  <a:pt x="112804" y="121705"/>
                  <a:pt x="112804" y="112804"/>
                </a:cubicBezTo>
                <a:cubicBezTo>
                  <a:pt x="112804" y="103904"/>
                  <a:pt x="105590" y="96689"/>
                  <a:pt x="96689" y="96689"/>
                </a:cubicBezTo>
                <a:close/>
                <a:moveTo>
                  <a:pt x="193379" y="26858"/>
                </a:moveTo>
                <a:cubicBezTo>
                  <a:pt x="184479" y="26858"/>
                  <a:pt x="177264" y="34072"/>
                  <a:pt x="177264" y="42973"/>
                </a:cubicBezTo>
                <a:cubicBezTo>
                  <a:pt x="177264" y="51873"/>
                  <a:pt x="184479" y="59088"/>
                  <a:pt x="193379" y="59088"/>
                </a:cubicBezTo>
                <a:cubicBezTo>
                  <a:pt x="202279" y="59088"/>
                  <a:pt x="209494" y="51873"/>
                  <a:pt x="209494" y="42973"/>
                </a:cubicBezTo>
                <a:cubicBezTo>
                  <a:pt x="209494" y="34072"/>
                  <a:pt x="202279" y="26858"/>
                  <a:pt x="193379" y="26858"/>
                </a:cubicBezTo>
                <a:close/>
                <a:moveTo>
                  <a:pt x="300812" y="32229"/>
                </a:moveTo>
                <a:cubicBezTo>
                  <a:pt x="291912" y="32229"/>
                  <a:pt x="284697" y="39444"/>
                  <a:pt x="284697" y="48344"/>
                </a:cubicBezTo>
                <a:cubicBezTo>
                  <a:pt x="284697" y="57245"/>
                  <a:pt x="291912" y="64459"/>
                  <a:pt x="300812" y="64459"/>
                </a:cubicBezTo>
                <a:cubicBezTo>
                  <a:pt x="309713" y="64459"/>
                  <a:pt x="316927" y="57245"/>
                  <a:pt x="316927" y="48344"/>
                </a:cubicBezTo>
                <a:cubicBezTo>
                  <a:pt x="316927" y="39444"/>
                  <a:pt x="309713" y="32229"/>
                  <a:pt x="300812" y="32229"/>
                </a:cubicBezTo>
                <a:close/>
                <a:moveTo>
                  <a:pt x="327671" y="91318"/>
                </a:moveTo>
                <a:cubicBezTo>
                  <a:pt x="318770" y="91318"/>
                  <a:pt x="311556" y="98532"/>
                  <a:pt x="311556" y="107433"/>
                </a:cubicBezTo>
                <a:cubicBezTo>
                  <a:pt x="311556" y="116333"/>
                  <a:pt x="318770" y="123548"/>
                  <a:pt x="327671" y="123548"/>
                </a:cubicBezTo>
                <a:cubicBezTo>
                  <a:pt x="336571" y="123548"/>
                  <a:pt x="343785" y="116333"/>
                  <a:pt x="343785" y="107433"/>
                </a:cubicBezTo>
                <a:cubicBezTo>
                  <a:pt x="343785" y="98532"/>
                  <a:pt x="336571" y="91318"/>
                  <a:pt x="327671" y="91318"/>
                </a:cubicBezTo>
                <a:close/>
              </a:path>
            </a:pathLst>
          </a:custGeom>
          <a:noFill/>
          <a:ln w="8058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/>
          <p:cNvGrpSpPr/>
          <p:nvPr/>
        </p:nvGrpSpPr>
        <p:grpSpPr>
          <a:xfrm>
            <a:off x="4518172" y="3000562"/>
            <a:ext cx="257841" cy="424357"/>
            <a:chOff x="4518172" y="3000562"/>
            <a:chExt cx="257841" cy="424357"/>
          </a:xfrm>
        </p:grpSpPr>
        <p:sp>
          <p:nvSpPr>
            <p:cNvPr id="36" name="Rounded Rectangle 35"/>
            <p:cNvSpPr/>
            <p:nvPr/>
          </p:nvSpPr>
          <p:spPr>
            <a:xfrm>
              <a:off x="4518172" y="3129483"/>
              <a:ext cx="53720" cy="295436"/>
            </a:xfrm>
            <a:custGeom>
              <a:avLst/>
              <a:gdLst/>
              <a:ahLst/>
              <a:cxnLst/>
              <a:rect l="0" t="0" r="0" b="0"/>
              <a:pathLst>
                <a:path w="53720" h="295436">
                  <a:moveTo>
                    <a:pt x="53720" y="0"/>
                  </a:moveTo>
                  <a:lnTo>
                    <a:pt x="53720" y="268585"/>
                  </a:lnTo>
                  <a:cubicBezTo>
                    <a:pt x="53720" y="283416"/>
                    <a:pt x="41690" y="295436"/>
                    <a:pt x="26860" y="295436"/>
                  </a:cubicBezTo>
                  <a:cubicBezTo>
                    <a:pt x="12020" y="295436"/>
                    <a:pt x="0" y="283416"/>
                    <a:pt x="0" y="268585"/>
                  </a:cubicBezTo>
                  <a:lnTo>
                    <a:pt x="0" y="0"/>
                  </a:lnTo>
                  <a:lnTo>
                    <a:pt x="53720" y="0"/>
                  </a:ln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722293" y="3000562"/>
              <a:ext cx="53720" cy="424357"/>
            </a:xfrm>
            <a:custGeom>
              <a:avLst/>
              <a:gdLst/>
              <a:ahLst/>
              <a:cxnLst/>
              <a:rect l="0" t="0" r="0" b="0"/>
              <a:pathLst>
                <a:path w="53720" h="424357">
                  <a:moveTo>
                    <a:pt x="53720" y="0"/>
                  </a:moveTo>
                  <a:lnTo>
                    <a:pt x="53720" y="397506"/>
                  </a:lnTo>
                  <a:cubicBezTo>
                    <a:pt x="53720" y="412337"/>
                    <a:pt x="41690" y="424357"/>
                    <a:pt x="26860" y="424357"/>
                  </a:cubicBezTo>
                  <a:cubicBezTo>
                    <a:pt x="12030" y="424357"/>
                    <a:pt x="0" y="412337"/>
                    <a:pt x="0" y="397506"/>
                  </a:cubicBezTo>
                  <a:lnTo>
                    <a:pt x="0" y="0"/>
                  </a:lnTo>
                  <a:lnTo>
                    <a:pt x="53720" y="0"/>
                  </a:ln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518172" y="3000562"/>
            <a:ext cx="257839" cy="424360"/>
            <a:chOff x="4518172" y="3000562"/>
            <a:chExt cx="257839" cy="424360"/>
          </a:xfrm>
        </p:grpSpPr>
        <p:sp>
          <p:nvSpPr>
            <p:cNvPr id="39" name="Rounded Rectangle 38"/>
            <p:cNvSpPr/>
            <p:nvPr/>
          </p:nvSpPr>
          <p:spPr>
            <a:xfrm>
              <a:off x="4518172" y="3129481"/>
              <a:ext cx="53716" cy="295441"/>
            </a:xfrm>
            <a:custGeom>
              <a:avLst/>
              <a:gdLst/>
              <a:ahLst/>
              <a:cxnLst/>
              <a:rect l="0" t="0" r="0" b="0"/>
              <a:pathLst>
                <a:path w="53716" h="295441">
                  <a:moveTo>
                    <a:pt x="53716" y="268582"/>
                  </a:moveTo>
                  <a:cubicBezTo>
                    <a:pt x="53716" y="283416"/>
                    <a:pt x="41691" y="295441"/>
                    <a:pt x="26858" y="295441"/>
                  </a:cubicBezTo>
                  <a:cubicBezTo>
                    <a:pt x="12024" y="295441"/>
                    <a:pt x="0" y="283416"/>
                    <a:pt x="0" y="268582"/>
                  </a:cubicBezTo>
                  <a:lnTo>
                    <a:pt x="0" y="0"/>
                  </a:lnTo>
                  <a:lnTo>
                    <a:pt x="53716" y="0"/>
                  </a:lnTo>
                  <a:lnTo>
                    <a:pt x="53716" y="268582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722295" y="3000562"/>
              <a:ext cx="53716" cy="424360"/>
            </a:xfrm>
            <a:custGeom>
              <a:avLst/>
              <a:gdLst/>
              <a:ahLst/>
              <a:cxnLst/>
              <a:rect l="0" t="0" r="0" b="0"/>
              <a:pathLst>
                <a:path w="53716" h="424360">
                  <a:moveTo>
                    <a:pt x="53716" y="397502"/>
                  </a:moveTo>
                  <a:cubicBezTo>
                    <a:pt x="53716" y="412335"/>
                    <a:pt x="41691" y="424360"/>
                    <a:pt x="26858" y="424360"/>
                  </a:cubicBezTo>
                  <a:cubicBezTo>
                    <a:pt x="12024" y="424360"/>
                    <a:pt x="0" y="412335"/>
                    <a:pt x="0" y="397502"/>
                  </a:cubicBezTo>
                  <a:lnTo>
                    <a:pt x="0" y="0"/>
                  </a:lnTo>
                  <a:lnTo>
                    <a:pt x="53716" y="0"/>
                  </a:lnTo>
                  <a:lnTo>
                    <a:pt x="53716" y="397502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546112" y="2205557"/>
            <a:ext cx="418471" cy="1278454"/>
            <a:chOff x="3546112" y="2205557"/>
            <a:chExt cx="418471" cy="1278454"/>
          </a:xfrm>
        </p:grpSpPr>
        <p:sp>
          <p:nvSpPr>
            <p:cNvPr id="42" name="Rounded Rectangle 41"/>
            <p:cNvSpPr/>
            <p:nvPr/>
          </p:nvSpPr>
          <p:spPr>
            <a:xfrm>
              <a:off x="3718695" y="2823301"/>
              <a:ext cx="75199" cy="169202"/>
            </a:xfrm>
            <a:custGeom>
              <a:avLst/>
              <a:gdLst/>
              <a:ahLst/>
              <a:cxnLst/>
              <a:rect l="0" t="0" r="0" b="0"/>
              <a:pathLst>
                <a:path w="75199" h="169202">
                  <a:moveTo>
                    <a:pt x="1781" y="112804"/>
                  </a:moveTo>
                  <a:cubicBezTo>
                    <a:pt x="6086" y="71980"/>
                    <a:pt x="28641" y="0"/>
                    <a:pt x="36699" y="0"/>
                  </a:cubicBezTo>
                  <a:cubicBezTo>
                    <a:pt x="44757" y="0"/>
                    <a:pt x="71618" y="72513"/>
                    <a:pt x="74304" y="112804"/>
                  </a:cubicBezTo>
                  <a:cubicBezTo>
                    <a:pt x="75199" y="131606"/>
                    <a:pt x="68932" y="169202"/>
                    <a:pt x="36699" y="169202"/>
                  </a:cubicBezTo>
                  <a:cubicBezTo>
                    <a:pt x="4467" y="169202"/>
                    <a:pt x="0" y="131606"/>
                    <a:pt x="1781" y="112804"/>
                  </a:cubicBez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562019" y="3360463"/>
              <a:ext cx="386753" cy="123548"/>
            </a:xfrm>
            <a:custGeom>
              <a:avLst/>
              <a:gdLst/>
              <a:ahLst/>
              <a:cxnLst/>
              <a:rect l="0" t="0" r="0" b="0"/>
              <a:pathLst>
                <a:path w="386753" h="123548">
                  <a:moveTo>
                    <a:pt x="0" y="123548"/>
                  </a:moveTo>
                  <a:lnTo>
                    <a:pt x="0" y="0"/>
                  </a:lnTo>
                  <a:lnTo>
                    <a:pt x="386753" y="0"/>
                  </a:lnTo>
                  <a:lnTo>
                    <a:pt x="386753" y="123548"/>
                  </a:lnTo>
                  <a:lnTo>
                    <a:pt x="0" y="123548"/>
                  </a:ln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546112" y="2205557"/>
              <a:ext cx="418471" cy="134292"/>
            </a:xfrm>
            <a:custGeom>
              <a:avLst/>
              <a:gdLst/>
              <a:ahLst/>
              <a:cxnLst/>
              <a:rect l="0" t="0" r="0" b="0"/>
              <a:pathLst>
                <a:path w="418471" h="134292">
                  <a:moveTo>
                    <a:pt x="98821" y="134292"/>
                  </a:moveTo>
                  <a:lnTo>
                    <a:pt x="319649" y="134292"/>
                  </a:lnTo>
                  <a:cubicBezTo>
                    <a:pt x="349015" y="117671"/>
                    <a:pt x="395316" y="71751"/>
                    <a:pt x="418471" y="0"/>
                  </a:cubicBezTo>
                  <a:cubicBezTo>
                    <a:pt x="255050" y="0"/>
                    <a:pt x="163420" y="0"/>
                    <a:pt x="0" y="0"/>
                  </a:cubicBezTo>
                  <a:cubicBezTo>
                    <a:pt x="23145" y="71751"/>
                    <a:pt x="69446" y="117671"/>
                    <a:pt x="98821" y="134292"/>
                  </a:cubicBezTo>
                </a:path>
              </a:pathLst>
            </a:custGeom>
            <a:solidFill>
              <a:srgbClr val="0D111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546112" y="2205557"/>
            <a:ext cx="418470" cy="1278453"/>
            <a:chOff x="3546112" y="2205557"/>
            <a:chExt cx="418470" cy="1278453"/>
          </a:xfrm>
        </p:grpSpPr>
        <p:sp>
          <p:nvSpPr>
            <p:cNvPr id="46" name="Rounded Rectangle 45"/>
            <p:cNvSpPr/>
            <p:nvPr/>
          </p:nvSpPr>
          <p:spPr>
            <a:xfrm>
              <a:off x="3718691" y="2823297"/>
              <a:ext cx="75203" cy="169207"/>
            </a:xfrm>
            <a:custGeom>
              <a:avLst/>
              <a:gdLst/>
              <a:ahLst/>
              <a:cxnLst/>
              <a:rect l="0" t="0" r="0" b="0"/>
              <a:pathLst>
                <a:path w="75203" h="169207">
                  <a:moveTo>
                    <a:pt x="1790" y="112804"/>
                  </a:moveTo>
                  <a:cubicBezTo>
                    <a:pt x="6087" y="71980"/>
                    <a:pt x="28648" y="0"/>
                    <a:pt x="36706" y="0"/>
                  </a:cubicBezTo>
                  <a:cubicBezTo>
                    <a:pt x="44763" y="0"/>
                    <a:pt x="71621" y="72517"/>
                    <a:pt x="74307" y="112804"/>
                  </a:cubicBezTo>
                  <a:cubicBezTo>
                    <a:pt x="75203" y="131605"/>
                    <a:pt x="68936" y="169207"/>
                    <a:pt x="36706" y="169207"/>
                  </a:cubicBezTo>
                  <a:cubicBezTo>
                    <a:pt x="4476" y="169207"/>
                    <a:pt x="0" y="131605"/>
                    <a:pt x="1790" y="112804"/>
                  </a:cubicBez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562017" y="3360463"/>
              <a:ext cx="386759" cy="123547"/>
            </a:xfrm>
            <a:custGeom>
              <a:avLst/>
              <a:gdLst/>
              <a:ahLst/>
              <a:cxnLst/>
              <a:rect l="0" t="0" r="0" b="0"/>
              <a:pathLst>
                <a:path w="386759" h="123547">
                  <a:moveTo>
                    <a:pt x="0" y="123547"/>
                  </a:moveTo>
                  <a:lnTo>
                    <a:pt x="0" y="0"/>
                  </a:lnTo>
                  <a:lnTo>
                    <a:pt x="386759" y="0"/>
                  </a:lnTo>
                  <a:lnTo>
                    <a:pt x="386759" y="123547"/>
                  </a:lnTo>
                  <a:lnTo>
                    <a:pt x="0" y="123547"/>
                  </a:ln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546112" y="2205557"/>
              <a:ext cx="418470" cy="134291"/>
            </a:xfrm>
            <a:custGeom>
              <a:avLst/>
              <a:gdLst/>
              <a:ahLst/>
              <a:cxnLst/>
              <a:rect l="0" t="0" r="0" b="0"/>
              <a:pathLst>
                <a:path w="418470" h="134291">
                  <a:moveTo>
                    <a:pt x="98817" y="134291"/>
                  </a:moveTo>
                  <a:lnTo>
                    <a:pt x="319652" y="134291"/>
                  </a:lnTo>
                  <a:cubicBezTo>
                    <a:pt x="349019" y="117668"/>
                    <a:pt x="395319" y="71754"/>
                    <a:pt x="418470" y="0"/>
                  </a:cubicBezTo>
                  <a:cubicBezTo>
                    <a:pt x="255047" y="0"/>
                    <a:pt x="163422" y="0"/>
                    <a:pt x="0" y="0"/>
                  </a:cubicBezTo>
                  <a:cubicBezTo>
                    <a:pt x="23150" y="71754"/>
                    <a:pt x="69451" y="117668"/>
                    <a:pt x="98817" y="134291"/>
                  </a:cubicBezTo>
                  <a:close/>
                </a:path>
              </a:pathLst>
            </a:custGeom>
            <a:noFill/>
            <a:ln w="8058">
              <a:solidFill>
                <a:srgbClr val="F2F5F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3293435" y="1483068"/>
            <a:ext cx="4412815" cy="2033172"/>
          </a:xfrm>
          <a:custGeom>
            <a:avLst/>
            <a:gdLst/>
            <a:ahLst/>
            <a:cxnLst/>
            <a:rect l="0" t="0" r="0" b="0"/>
            <a:pathLst>
              <a:path w="4412815" h="2033172">
                <a:moveTo>
                  <a:pt x="64459" y="776204"/>
                </a:moveTo>
                <a:lnTo>
                  <a:pt x="64459" y="324985"/>
                </a:lnTo>
                <a:moveTo>
                  <a:pt x="64459" y="776204"/>
                </a:moveTo>
                <a:lnTo>
                  <a:pt x="0" y="776204"/>
                </a:lnTo>
                <a:moveTo>
                  <a:pt x="64459" y="776204"/>
                </a:moveTo>
                <a:lnTo>
                  <a:pt x="773518" y="776204"/>
                </a:lnTo>
                <a:moveTo>
                  <a:pt x="64459" y="776204"/>
                </a:moveTo>
                <a:lnTo>
                  <a:pt x="64459" y="2033171"/>
                </a:lnTo>
                <a:moveTo>
                  <a:pt x="0" y="840664"/>
                </a:moveTo>
                <a:lnTo>
                  <a:pt x="0" y="776204"/>
                </a:lnTo>
                <a:moveTo>
                  <a:pt x="0" y="776204"/>
                </a:moveTo>
                <a:lnTo>
                  <a:pt x="0" y="711744"/>
                </a:lnTo>
                <a:moveTo>
                  <a:pt x="4062315" y="1563152"/>
                </a:moveTo>
                <a:lnTo>
                  <a:pt x="4062315" y="2030486"/>
                </a:lnTo>
                <a:moveTo>
                  <a:pt x="4062315" y="1563152"/>
                </a:moveTo>
                <a:lnTo>
                  <a:pt x="3787017" y="1563152"/>
                </a:lnTo>
                <a:moveTo>
                  <a:pt x="4062315" y="1563152"/>
                </a:moveTo>
                <a:lnTo>
                  <a:pt x="4337612" y="1563152"/>
                </a:lnTo>
                <a:moveTo>
                  <a:pt x="3746730" y="1563152"/>
                </a:moveTo>
                <a:lnTo>
                  <a:pt x="3787017" y="1563152"/>
                </a:lnTo>
                <a:moveTo>
                  <a:pt x="3787017" y="1563152"/>
                </a:moveTo>
                <a:lnTo>
                  <a:pt x="3711814" y="2030486"/>
                </a:lnTo>
                <a:moveTo>
                  <a:pt x="4377900" y="1563152"/>
                </a:moveTo>
                <a:lnTo>
                  <a:pt x="4337612" y="1563152"/>
                </a:lnTo>
                <a:moveTo>
                  <a:pt x="4337612" y="1563152"/>
                </a:moveTo>
                <a:lnTo>
                  <a:pt x="4412815" y="2030486"/>
                </a:lnTo>
                <a:moveTo>
                  <a:pt x="1923052" y="1399316"/>
                </a:moveTo>
                <a:lnTo>
                  <a:pt x="2626739" y="1399316"/>
                </a:lnTo>
                <a:moveTo>
                  <a:pt x="2626739" y="1399316"/>
                </a:moveTo>
                <a:lnTo>
                  <a:pt x="2691199" y="1399316"/>
                </a:lnTo>
                <a:moveTo>
                  <a:pt x="2626739" y="1399316"/>
                </a:moveTo>
                <a:lnTo>
                  <a:pt x="2626739" y="2033172"/>
                </a:lnTo>
                <a:moveTo>
                  <a:pt x="2626739" y="1399316"/>
                </a:moveTo>
                <a:lnTo>
                  <a:pt x="2626739" y="709058"/>
                </a:lnTo>
                <a:moveTo>
                  <a:pt x="2691199" y="1399316"/>
                </a:moveTo>
                <a:lnTo>
                  <a:pt x="2691199" y="1334856"/>
                </a:lnTo>
                <a:moveTo>
                  <a:pt x="2691199" y="1399316"/>
                </a:moveTo>
                <a:lnTo>
                  <a:pt x="2691199" y="1463776"/>
                </a:lnTo>
                <a:moveTo>
                  <a:pt x="461962" y="1877393"/>
                </a:moveTo>
                <a:lnTo>
                  <a:pt x="461962" y="1415431"/>
                </a:lnTo>
                <a:moveTo>
                  <a:pt x="1122676" y="2033171"/>
                </a:moveTo>
                <a:lnTo>
                  <a:pt x="1122676" y="1453033"/>
                </a:lnTo>
                <a:lnTo>
                  <a:pt x="1573895" y="1453033"/>
                </a:lnTo>
                <a:moveTo>
                  <a:pt x="1457217" y="1259657"/>
                </a:moveTo>
                <a:lnTo>
                  <a:pt x="1457217" y="981320"/>
                </a:lnTo>
                <a:cubicBezTo>
                  <a:pt x="1457217" y="888201"/>
                  <a:pt x="1567601" y="839178"/>
                  <a:pt x="1636685" y="901615"/>
                </a:cubicBezTo>
                <a:lnTo>
                  <a:pt x="1808672" y="1057054"/>
                </a:lnTo>
                <a:moveTo>
                  <a:pt x="2226551" y="703686"/>
                </a:moveTo>
                <a:lnTo>
                  <a:pt x="2226551" y="593567"/>
                </a:lnTo>
                <a:cubicBezTo>
                  <a:pt x="2226551" y="534234"/>
                  <a:pt x="2178452" y="486134"/>
                  <a:pt x="2119118" y="486134"/>
                </a:cubicBezTo>
                <a:lnTo>
                  <a:pt x="848721" y="486134"/>
                </a:lnTo>
                <a:moveTo>
                  <a:pt x="2524678" y="67145"/>
                </a:moveTo>
                <a:lnTo>
                  <a:pt x="2325927" y="67145"/>
                </a:lnTo>
                <a:cubicBezTo>
                  <a:pt x="2296260" y="67145"/>
                  <a:pt x="2272210" y="91195"/>
                  <a:pt x="2272210" y="120862"/>
                </a:cubicBezTo>
                <a:lnTo>
                  <a:pt x="2272210" y="706372"/>
                </a:lnTo>
                <a:moveTo>
                  <a:pt x="3975026" y="359901"/>
                </a:moveTo>
                <a:cubicBezTo>
                  <a:pt x="3975026" y="359901"/>
                  <a:pt x="3919801" y="491506"/>
                  <a:pt x="3778018" y="491506"/>
                </a:cubicBezTo>
                <a:cubicBezTo>
                  <a:pt x="3705855" y="491506"/>
                  <a:pt x="3647354" y="432584"/>
                  <a:pt x="3647354" y="359901"/>
                </a:cubicBezTo>
                <a:cubicBezTo>
                  <a:pt x="3647354" y="287217"/>
                  <a:pt x="3705855" y="228295"/>
                  <a:pt x="3778018" y="228295"/>
                </a:cubicBezTo>
                <a:cubicBezTo>
                  <a:pt x="3899823" y="228295"/>
                  <a:pt x="3975026" y="359901"/>
                  <a:pt x="3975026" y="359901"/>
                </a:cubicBezTo>
                <a:close/>
                <a:moveTo>
                  <a:pt x="4017999" y="692943"/>
                </a:moveTo>
                <a:cubicBezTo>
                  <a:pt x="4017999" y="692943"/>
                  <a:pt x="3962774" y="824549"/>
                  <a:pt x="3820991" y="824549"/>
                </a:cubicBezTo>
                <a:cubicBezTo>
                  <a:pt x="3748828" y="824549"/>
                  <a:pt x="3690328" y="765627"/>
                  <a:pt x="3690328" y="692943"/>
                </a:cubicBezTo>
                <a:cubicBezTo>
                  <a:pt x="3690328" y="620259"/>
                  <a:pt x="3748828" y="561338"/>
                  <a:pt x="3820991" y="561338"/>
                </a:cubicBezTo>
                <a:cubicBezTo>
                  <a:pt x="3962774" y="561338"/>
                  <a:pt x="4017999" y="692943"/>
                  <a:pt x="4017999" y="692943"/>
                </a:cubicBezTo>
                <a:close/>
                <a:moveTo>
                  <a:pt x="3658098" y="0"/>
                </a:moveTo>
                <a:lnTo>
                  <a:pt x="3679584" y="0"/>
                </a:lnTo>
                <a:cubicBezTo>
                  <a:pt x="3733301" y="0"/>
                  <a:pt x="3820991" y="0"/>
                  <a:pt x="3905194" y="72517"/>
                </a:cubicBezTo>
                <a:cubicBezTo>
                  <a:pt x="4007389" y="160529"/>
                  <a:pt x="4000093" y="292755"/>
                  <a:pt x="3975026" y="359901"/>
                </a:cubicBezTo>
                <a:cubicBezTo>
                  <a:pt x="4001884" y="400188"/>
                  <a:pt x="4024151" y="448533"/>
                  <a:pt x="4034114" y="510307"/>
                </a:cubicBezTo>
                <a:cubicBezTo>
                  <a:pt x="4049605" y="606350"/>
                  <a:pt x="4026056" y="674142"/>
                  <a:pt x="4017999" y="692943"/>
                </a:cubicBezTo>
                <a:cubicBezTo>
                  <a:pt x="4035009" y="730545"/>
                  <a:pt x="4069030" y="792319"/>
                  <a:pt x="4069030" y="891694"/>
                </a:cubicBezTo>
                <a:lnTo>
                  <a:pt x="4069030" y="921239"/>
                </a:lnTo>
              </a:path>
            </a:pathLst>
          </a:custGeom>
          <a:noFill/>
          <a:ln w="8058">
            <a:solidFill>
              <a:srgbClr val="ACBDC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3" name="Group 52"/>
          <p:cNvGrpSpPr/>
          <p:nvPr/>
        </p:nvGrpSpPr>
        <p:grpSpPr>
          <a:xfrm>
            <a:off x="390525" y="2852794"/>
            <a:ext cx="2381250" cy="380875"/>
            <a:chOff x="390525" y="2852794"/>
            <a:chExt cx="2381250" cy="380875"/>
          </a:xfrm>
        </p:grpSpPr>
        <p:sp>
          <p:nvSpPr>
            <p:cNvPr id="51" name="TextBox 50"/>
            <p:cNvSpPr txBox="1"/>
            <p:nvPr/>
          </p:nvSpPr>
          <p:spPr>
            <a:xfrm>
              <a:off x="390525" y="2852794"/>
              <a:ext cx="2738437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Tech Stack: React, Tailwind CSS, Vite,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0525" y="3043198"/>
              <a:ext cx="2738437" cy="190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Three.js, and Zustand.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90525" y="371475"/>
            <a:ext cx="4983956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D1116"/>
                </a:solidFill>
                <a:latin typeface="STIX Two Text"/>
              </a:rPr>
              <a:t>How the System Works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74965" y="3774084"/>
            <a:ext cx="739377" cy="128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1355D6"/>
                </a:solidFill>
                <a:latin typeface="STIX Two Text"/>
              </a:rPr>
              <a:t>Initial Input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4304192" y="3774098"/>
            <a:ext cx="685800" cy="257802"/>
            <a:chOff x="4304192" y="3774098"/>
            <a:chExt cx="685800" cy="257802"/>
          </a:xfrm>
        </p:grpSpPr>
        <p:sp>
          <p:nvSpPr>
            <p:cNvPr id="56" name="TextBox 55"/>
            <p:cNvSpPr txBox="1"/>
            <p:nvPr/>
          </p:nvSpPr>
          <p:spPr>
            <a:xfrm>
              <a:off x="4252757" y="3774098"/>
              <a:ext cx="788670" cy="128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UI &amp; State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252757" y="3902971"/>
              <a:ext cx="788670" cy="128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Management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193048" y="3774098"/>
            <a:ext cx="712965" cy="257802"/>
            <a:chOff x="5193048" y="3774098"/>
            <a:chExt cx="712965" cy="257802"/>
          </a:xfrm>
        </p:grpSpPr>
        <p:sp>
          <p:nvSpPr>
            <p:cNvPr id="59" name="TextBox 58"/>
            <p:cNvSpPr txBox="1"/>
            <p:nvPr/>
          </p:nvSpPr>
          <p:spPr>
            <a:xfrm>
              <a:off x="5139576" y="3774098"/>
              <a:ext cx="819909" cy="128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Optimization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139576" y="3902971"/>
              <a:ext cx="819909" cy="128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Engine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043943" y="3774084"/>
            <a:ext cx="816053" cy="128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1355D6"/>
                </a:solidFill>
                <a:latin typeface="STIX Two Text"/>
              </a:rPr>
              <a:t>3D Rendering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7035320" y="3774098"/>
            <a:ext cx="638175" cy="257802"/>
            <a:chOff x="7035320" y="3774098"/>
            <a:chExt cx="638175" cy="257802"/>
          </a:xfrm>
        </p:grpSpPr>
        <p:sp>
          <p:nvSpPr>
            <p:cNvPr id="63" name="TextBox 62"/>
            <p:cNvSpPr txBox="1"/>
            <p:nvPr/>
          </p:nvSpPr>
          <p:spPr>
            <a:xfrm>
              <a:off x="6987457" y="3774098"/>
              <a:ext cx="733901" cy="128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Refinement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87457" y="3902971"/>
              <a:ext cx="733901" cy="128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Loop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7973477" y="3774098"/>
            <a:ext cx="566737" cy="257802"/>
            <a:chOff x="7973477" y="3774098"/>
            <a:chExt cx="566737" cy="257802"/>
          </a:xfrm>
        </p:grpSpPr>
        <p:sp>
          <p:nvSpPr>
            <p:cNvPr id="66" name="TextBox 65"/>
            <p:cNvSpPr txBox="1"/>
            <p:nvPr/>
          </p:nvSpPr>
          <p:spPr>
            <a:xfrm>
              <a:off x="7930972" y="3774098"/>
              <a:ext cx="651747" cy="128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Optimized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930972" y="3902971"/>
              <a:ext cx="651747" cy="128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355D6"/>
                  </a:solidFill>
                  <a:latin typeface="STIX Two Text"/>
                </a:rPr>
                <a:t>Design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377941" y="3967480"/>
            <a:ext cx="733425" cy="429547"/>
            <a:chOff x="3377941" y="3967480"/>
            <a:chExt cx="733425" cy="429547"/>
          </a:xfrm>
        </p:grpSpPr>
        <p:sp>
          <p:nvSpPr>
            <p:cNvPr id="69" name="TextBox 68"/>
            <p:cNvSpPr txBox="1"/>
            <p:nvPr/>
          </p:nvSpPr>
          <p:spPr>
            <a:xfrm>
              <a:off x="3322935" y="3967480"/>
              <a:ext cx="843438" cy="107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User provides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322935" y="4074922"/>
              <a:ext cx="843438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bathroom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322935" y="4182268"/>
              <a:ext cx="843438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dimensions, budget,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322935" y="4289615"/>
              <a:ext cx="843438" cy="107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and theme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097163" y="3967468"/>
            <a:ext cx="709612" cy="322163"/>
            <a:chOff x="6097163" y="3967468"/>
            <a:chExt cx="709612" cy="322163"/>
          </a:xfrm>
        </p:grpSpPr>
        <p:sp>
          <p:nvSpPr>
            <p:cNvPr id="74" name="TextBox 73"/>
            <p:cNvSpPr txBox="1"/>
            <p:nvPr/>
          </p:nvSpPr>
          <p:spPr>
            <a:xfrm>
              <a:off x="6043943" y="3967468"/>
              <a:ext cx="816053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React Three Fiber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043943" y="4074814"/>
              <a:ext cx="816053" cy="107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and Three.js render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43943" y="4182256"/>
              <a:ext cx="816053" cy="107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the scene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335148" y="4096399"/>
            <a:ext cx="623887" cy="429547"/>
            <a:chOff x="4335148" y="4096399"/>
            <a:chExt cx="623887" cy="429547"/>
          </a:xfrm>
        </p:grpSpPr>
        <p:sp>
          <p:nvSpPr>
            <p:cNvPr id="78" name="TextBox 77"/>
            <p:cNvSpPr txBox="1"/>
            <p:nvPr/>
          </p:nvSpPr>
          <p:spPr>
            <a:xfrm>
              <a:off x="4288357" y="4096399"/>
              <a:ext cx="717470" cy="107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React UI and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288357" y="4203841"/>
              <a:ext cx="717470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Zustand manage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288357" y="4311187"/>
              <a:ext cx="717470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interface and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288357" y="4418534"/>
              <a:ext cx="717470" cy="107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shared state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5216156" y="4096388"/>
            <a:ext cx="666750" cy="322163"/>
            <a:chOff x="5216156" y="4096388"/>
            <a:chExt cx="666750" cy="322163"/>
          </a:xfrm>
        </p:grpSpPr>
        <p:sp>
          <p:nvSpPr>
            <p:cNvPr id="83" name="TextBox 82"/>
            <p:cNvSpPr txBox="1"/>
            <p:nvPr/>
          </p:nvSpPr>
          <p:spPr>
            <a:xfrm>
              <a:off x="5166150" y="4096388"/>
              <a:ext cx="766762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JavaScript logic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166150" y="4203734"/>
              <a:ext cx="766762" cy="107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evaluates product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166150" y="4311176"/>
              <a:ext cx="766762" cy="107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combinations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988886" y="4096388"/>
            <a:ext cx="731043" cy="322163"/>
            <a:chOff x="6988886" y="4096388"/>
            <a:chExt cx="731043" cy="322163"/>
          </a:xfrm>
        </p:grpSpPr>
        <p:sp>
          <p:nvSpPr>
            <p:cNvPr id="87" name="TextBox 86"/>
            <p:cNvSpPr txBox="1"/>
            <p:nvPr/>
          </p:nvSpPr>
          <p:spPr>
            <a:xfrm>
              <a:off x="6934058" y="4096388"/>
              <a:ext cx="840699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NLP parser updates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934058" y="4203734"/>
              <a:ext cx="840699" cy="107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parameters for re-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934058" y="4311176"/>
              <a:ext cx="840699" cy="107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optimization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7897982" y="4096388"/>
            <a:ext cx="717727" cy="322163"/>
            <a:chOff x="7897982" y="4096388"/>
            <a:chExt cx="717727" cy="322163"/>
          </a:xfrm>
        </p:grpSpPr>
        <p:sp>
          <p:nvSpPr>
            <p:cNvPr id="91" name="TextBox 90"/>
            <p:cNvSpPr txBox="1"/>
            <p:nvPr/>
          </p:nvSpPr>
          <p:spPr>
            <a:xfrm>
              <a:off x="7844153" y="4096388"/>
              <a:ext cx="825386" cy="107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Interactive 3D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844153" y="4203734"/>
              <a:ext cx="825386" cy="107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bathroom design is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844153" y="4311176"/>
              <a:ext cx="825386" cy="107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0D1116"/>
                  </a:solidFill>
                  <a:latin typeface="Roboto"/>
                </a:rPr>
                <a:t>ready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35376" y="1565355"/>
            <a:ext cx="3533536" cy="512073"/>
          </a:xfrm>
          <a:custGeom>
            <a:avLst/>
            <a:gdLst/>
            <a:ahLst/>
            <a:cxnLst/>
            <a:rect l="0" t="0" r="0" b="0"/>
            <a:pathLst>
              <a:path w="3533536" h="512073">
                <a:moveTo>
                  <a:pt x="0" y="0"/>
                </a:moveTo>
                <a:lnTo>
                  <a:pt x="3226269" y="0"/>
                </a:lnTo>
                <a:lnTo>
                  <a:pt x="3533536" y="256041"/>
                </a:lnTo>
                <a:lnTo>
                  <a:pt x="3226269" y="512073"/>
                </a:lnTo>
                <a:lnTo>
                  <a:pt x="0" y="512073"/>
                </a:lnTo>
                <a:lnTo>
                  <a:pt x="0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35376" y="1565355"/>
            <a:ext cx="3533532" cy="512074"/>
          </a:xfrm>
          <a:custGeom>
            <a:avLst/>
            <a:gdLst/>
            <a:ahLst/>
            <a:cxnLst/>
            <a:rect l="0" t="0" r="0" b="0"/>
            <a:pathLst>
              <a:path w="3533532" h="512074">
                <a:moveTo>
                  <a:pt x="0" y="0"/>
                </a:moveTo>
                <a:lnTo>
                  <a:pt x="3226269" y="0"/>
                </a:lnTo>
                <a:lnTo>
                  <a:pt x="3533532" y="256037"/>
                </a:lnTo>
                <a:lnTo>
                  <a:pt x="3226269" y="512074"/>
                </a:lnTo>
                <a:lnTo>
                  <a:pt x="0" y="512074"/>
                </a:lnTo>
                <a:lnTo>
                  <a:pt x="0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44332" y="1411723"/>
            <a:ext cx="921791" cy="665702"/>
          </a:xfrm>
          <a:custGeom>
            <a:avLst/>
            <a:gdLst/>
            <a:ahLst/>
            <a:cxnLst/>
            <a:rect l="0" t="0" r="0" b="0"/>
            <a:pathLst>
              <a:path w="921791" h="665702">
                <a:moveTo>
                  <a:pt x="0" y="147932"/>
                </a:moveTo>
                <a:lnTo>
                  <a:pt x="76819" y="0"/>
                </a:lnTo>
                <a:lnTo>
                  <a:pt x="867384" y="0"/>
                </a:lnTo>
                <a:lnTo>
                  <a:pt x="921791" y="147932"/>
                </a:lnTo>
                <a:lnTo>
                  <a:pt x="921791" y="665702"/>
                </a:lnTo>
                <a:lnTo>
                  <a:pt x="153628" y="665702"/>
                </a:lnTo>
                <a:lnTo>
                  <a:pt x="0" y="147932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44332" y="1411723"/>
            <a:ext cx="921791" cy="665706"/>
          </a:xfrm>
          <a:custGeom>
            <a:avLst/>
            <a:gdLst/>
            <a:ahLst/>
            <a:cxnLst/>
            <a:rect l="0" t="0" r="0" b="0"/>
            <a:pathLst>
              <a:path w="921791" h="665706">
                <a:moveTo>
                  <a:pt x="921791" y="665706"/>
                </a:moveTo>
                <a:lnTo>
                  <a:pt x="153631" y="665706"/>
                </a:lnTo>
                <a:lnTo>
                  <a:pt x="0" y="147934"/>
                </a:lnTo>
                <a:lnTo>
                  <a:pt x="921791" y="147934"/>
                </a:lnTo>
                <a:lnTo>
                  <a:pt x="921791" y="665706"/>
                </a:lnTo>
                <a:close/>
                <a:moveTo>
                  <a:pt x="867379" y="0"/>
                </a:moveTo>
                <a:lnTo>
                  <a:pt x="76815" y="0"/>
                </a:lnTo>
                <a:lnTo>
                  <a:pt x="0" y="147934"/>
                </a:lnTo>
                <a:lnTo>
                  <a:pt x="921791" y="147934"/>
                </a:lnTo>
                <a:lnTo>
                  <a:pt x="867379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35376" y="2077429"/>
            <a:ext cx="3533536" cy="512073"/>
          </a:xfrm>
          <a:custGeom>
            <a:avLst/>
            <a:gdLst/>
            <a:ahLst/>
            <a:cxnLst/>
            <a:rect l="0" t="0" r="0" b="0"/>
            <a:pathLst>
              <a:path w="3533536" h="512073">
                <a:moveTo>
                  <a:pt x="0" y="0"/>
                </a:moveTo>
                <a:lnTo>
                  <a:pt x="3226269" y="0"/>
                </a:lnTo>
                <a:lnTo>
                  <a:pt x="3533536" y="256041"/>
                </a:lnTo>
                <a:lnTo>
                  <a:pt x="3226269" y="512073"/>
                </a:lnTo>
                <a:lnTo>
                  <a:pt x="0" y="512073"/>
                </a:lnTo>
                <a:lnTo>
                  <a:pt x="0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35376" y="2077429"/>
            <a:ext cx="3533532" cy="512074"/>
          </a:xfrm>
          <a:custGeom>
            <a:avLst/>
            <a:gdLst/>
            <a:ahLst/>
            <a:cxnLst/>
            <a:rect l="0" t="0" r="0" b="0"/>
            <a:pathLst>
              <a:path w="3533532" h="512074">
                <a:moveTo>
                  <a:pt x="0" y="0"/>
                </a:moveTo>
                <a:lnTo>
                  <a:pt x="3226269" y="0"/>
                </a:lnTo>
                <a:lnTo>
                  <a:pt x="3533532" y="256037"/>
                </a:lnTo>
                <a:lnTo>
                  <a:pt x="3226269" y="512074"/>
                </a:lnTo>
                <a:lnTo>
                  <a:pt x="0" y="512074"/>
                </a:lnTo>
                <a:lnTo>
                  <a:pt x="0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44332" y="2077429"/>
            <a:ext cx="921791" cy="512073"/>
          </a:xfrm>
          <a:custGeom>
            <a:avLst/>
            <a:gdLst/>
            <a:ahLst/>
            <a:cxnLst/>
            <a:rect l="0" t="0" r="0" b="0"/>
            <a:pathLst>
              <a:path w="921791" h="512073">
                <a:moveTo>
                  <a:pt x="921791" y="512073"/>
                </a:moveTo>
                <a:lnTo>
                  <a:pt x="153628" y="512073"/>
                </a:lnTo>
                <a:lnTo>
                  <a:pt x="0" y="0"/>
                </a:lnTo>
                <a:lnTo>
                  <a:pt x="921791" y="0"/>
                </a:lnTo>
                <a:lnTo>
                  <a:pt x="921791" y="512073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44332" y="2077429"/>
            <a:ext cx="921791" cy="512074"/>
          </a:xfrm>
          <a:custGeom>
            <a:avLst/>
            <a:gdLst/>
            <a:ahLst/>
            <a:cxnLst/>
            <a:rect l="0" t="0" r="0" b="0"/>
            <a:pathLst>
              <a:path w="921791" h="512074">
                <a:moveTo>
                  <a:pt x="921791" y="512074"/>
                </a:moveTo>
                <a:lnTo>
                  <a:pt x="153631" y="512074"/>
                </a:lnTo>
                <a:lnTo>
                  <a:pt x="0" y="0"/>
                </a:lnTo>
                <a:lnTo>
                  <a:pt x="921791" y="0"/>
                </a:lnTo>
                <a:lnTo>
                  <a:pt x="921791" y="512074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35376" y="2589503"/>
            <a:ext cx="3533536" cy="640051"/>
          </a:xfrm>
          <a:custGeom>
            <a:avLst/>
            <a:gdLst/>
            <a:ahLst/>
            <a:cxnLst/>
            <a:rect l="0" t="0" r="0" b="0"/>
            <a:pathLst>
              <a:path w="3533536" h="640051">
                <a:moveTo>
                  <a:pt x="0" y="0"/>
                </a:moveTo>
                <a:lnTo>
                  <a:pt x="3226269" y="0"/>
                </a:lnTo>
                <a:lnTo>
                  <a:pt x="3533536" y="320020"/>
                </a:lnTo>
                <a:lnTo>
                  <a:pt x="3226269" y="640051"/>
                </a:lnTo>
                <a:lnTo>
                  <a:pt x="0" y="640051"/>
                </a:lnTo>
                <a:lnTo>
                  <a:pt x="0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5376" y="2589503"/>
            <a:ext cx="3533532" cy="640050"/>
          </a:xfrm>
          <a:custGeom>
            <a:avLst/>
            <a:gdLst/>
            <a:ahLst/>
            <a:cxnLst/>
            <a:rect l="0" t="0" r="0" b="0"/>
            <a:pathLst>
              <a:path w="3533532" h="640050">
                <a:moveTo>
                  <a:pt x="0" y="0"/>
                </a:moveTo>
                <a:lnTo>
                  <a:pt x="3226269" y="0"/>
                </a:lnTo>
                <a:lnTo>
                  <a:pt x="3533532" y="320025"/>
                </a:lnTo>
                <a:lnTo>
                  <a:pt x="3226269" y="640050"/>
                </a:lnTo>
                <a:lnTo>
                  <a:pt x="0" y="640050"/>
                </a:lnTo>
                <a:lnTo>
                  <a:pt x="0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44332" y="2589503"/>
            <a:ext cx="921791" cy="640051"/>
          </a:xfrm>
          <a:custGeom>
            <a:avLst/>
            <a:gdLst/>
            <a:ahLst/>
            <a:cxnLst/>
            <a:rect l="0" t="0" r="0" b="0"/>
            <a:pathLst>
              <a:path w="921791" h="640051">
                <a:moveTo>
                  <a:pt x="921791" y="640051"/>
                </a:moveTo>
                <a:lnTo>
                  <a:pt x="153628" y="640051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1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44332" y="2589503"/>
            <a:ext cx="921791" cy="640050"/>
          </a:xfrm>
          <a:custGeom>
            <a:avLst/>
            <a:gdLst/>
            <a:ahLst/>
            <a:cxnLst/>
            <a:rect l="0" t="0" r="0" b="0"/>
            <a:pathLst>
              <a:path w="921791" h="640050">
                <a:moveTo>
                  <a:pt x="921791" y="640050"/>
                </a:moveTo>
                <a:lnTo>
                  <a:pt x="153631" y="640050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35376" y="3229569"/>
            <a:ext cx="3533536" cy="640051"/>
          </a:xfrm>
          <a:custGeom>
            <a:avLst/>
            <a:gdLst/>
            <a:ahLst/>
            <a:cxnLst/>
            <a:rect l="0" t="0" r="0" b="0"/>
            <a:pathLst>
              <a:path w="3533536" h="640051">
                <a:moveTo>
                  <a:pt x="0" y="0"/>
                </a:moveTo>
                <a:lnTo>
                  <a:pt x="3226269" y="0"/>
                </a:lnTo>
                <a:lnTo>
                  <a:pt x="3533536" y="320030"/>
                </a:lnTo>
                <a:lnTo>
                  <a:pt x="3226269" y="640051"/>
                </a:lnTo>
                <a:lnTo>
                  <a:pt x="0" y="640051"/>
                </a:lnTo>
                <a:lnTo>
                  <a:pt x="0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35376" y="3229570"/>
            <a:ext cx="3533532" cy="640050"/>
          </a:xfrm>
          <a:custGeom>
            <a:avLst/>
            <a:gdLst/>
            <a:ahLst/>
            <a:cxnLst/>
            <a:rect l="0" t="0" r="0" b="0"/>
            <a:pathLst>
              <a:path w="3533532" h="640050">
                <a:moveTo>
                  <a:pt x="0" y="0"/>
                </a:moveTo>
                <a:lnTo>
                  <a:pt x="3226269" y="0"/>
                </a:lnTo>
                <a:lnTo>
                  <a:pt x="3533532" y="320025"/>
                </a:lnTo>
                <a:lnTo>
                  <a:pt x="3226269" y="640050"/>
                </a:lnTo>
                <a:lnTo>
                  <a:pt x="0" y="640050"/>
                </a:lnTo>
                <a:lnTo>
                  <a:pt x="0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44332" y="3229569"/>
            <a:ext cx="921791" cy="640051"/>
          </a:xfrm>
          <a:custGeom>
            <a:avLst/>
            <a:gdLst/>
            <a:ahLst/>
            <a:cxnLst/>
            <a:rect l="0" t="0" r="0" b="0"/>
            <a:pathLst>
              <a:path w="921791" h="640051">
                <a:moveTo>
                  <a:pt x="921791" y="640051"/>
                </a:moveTo>
                <a:lnTo>
                  <a:pt x="153628" y="640051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1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44332" y="3229570"/>
            <a:ext cx="921791" cy="640050"/>
          </a:xfrm>
          <a:custGeom>
            <a:avLst/>
            <a:gdLst/>
            <a:ahLst/>
            <a:cxnLst/>
            <a:rect l="0" t="0" r="0" b="0"/>
            <a:pathLst>
              <a:path w="921791" h="640050">
                <a:moveTo>
                  <a:pt x="921791" y="640050"/>
                </a:moveTo>
                <a:lnTo>
                  <a:pt x="153631" y="640050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35376" y="3869635"/>
            <a:ext cx="3533536" cy="640051"/>
          </a:xfrm>
          <a:custGeom>
            <a:avLst/>
            <a:gdLst/>
            <a:ahLst/>
            <a:cxnLst/>
            <a:rect l="0" t="0" r="0" b="0"/>
            <a:pathLst>
              <a:path w="3533536" h="640051">
                <a:moveTo>
                  <a:pt x="0" y="0"/>
                </a:moveTo>
                <a:lnTo>
                  <a:pt x="3226269" y="0"/>
                </a:lnTo>
                <a:lnTo>
                  <a:pt x="3533536" y="320020"/>
                </a:lnTo>
                <a:lnTo>
                  <a:pt x="3226269" y="640051"/>
                </a:lnTo>
                <a:lnTo>
                  <a:pt x="0" y="640051"/>
                </a:lnTo>
                <a:lnTo>
                  <a:pt x="0" y="0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35376" y="3869635"/>
            <a:ext cx="3533532" cy="640050"/>
          </a:xfrm>
          <a:custGeom>
            <a:avLst/>
            <a:gdLst/>
            <a:ahLst/>
            <a:cxnLst/>
            <a:rect l="0" t="0" r="0" b="0"/>
            <a:pathLst>
              <a:path w="3533532" h="640050">
                <a:moveTo>
                  <a:pt x="0" y="0"/>
                </a:moveTo>
                <a:lnTo>
                  <a:pt x="3226269" y="0"/>
                </a:lnTo>
                <a:lnTo>
                  <a:pt x="3533532" y="320025"/>
                </a:lnTo>
                <a:lnTo>
                  <a:pt x="3226269" y="640050"/>
                </a:lnTo>
                <a:lnTo>
                  <a:pt x="0" y="640050"/>
                </a:lnTo>
                <a:lnTo>
                  <a:pt x="0" y="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44332" y="3869635"/>
            <a:ext cx="921791" cy="640051"/>
          </a:xfrm>
          <a:custGeom>
            <a:avLst/>
            <a:gdLst/>
            <a:ahLst/>
            <a:cxnLst/>
            <a:rect l="0" t="0" r="0" b="0"/>
            <a:pathLst>
              <a:path w="921791" h="640051">
                <a:moveTo>
                  <a:pt x="921791" y="640051"/>
                </a:moveTo>
                <a:lnTo>
                  <a:pt x="153628" y="640051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1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44332" y="3869635"/>
            <a:ext cx="921791" cy="640050"/>
          </a:xfrm>
          <a:custGeom>
            <a:avLst/>
            <a:gdLst/>
            <a:ahLst/>
            <a:cxnLst/>
            <a:rect l="0" t="0" r="0" b="0"/>
            <a:pathLst>
              <a:path w="921791" h="640050">
                <a:moveTo>
                  <a:pt x="921791" y="640050"/>
                </a:moveTo>
                <a:lnTo>
                  <a:pt x="153631" y="640050"/>
                </a:lnTo>
                <a:lnTo>
                  <a:pt x="0" y="0"/>
                </a:lnTo>
                <a:lnTo>
                  <a:pt x="921791" y="0"/>
                </a:lnTo>
                <a:lnTo>
                  <a:pt x="921791" y="640050"/>
                </a:lnTo>
                <a:close/>
              </a:path>
            </a:pathLst>
          </a:custGeom>
          <a:noFill/>
          <a:ln w="9600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6402" y="4036037"/>
            <a:ext cx="309276" cy="307286"/>
          </a:xfrm>
          <a:custGeom>
            <a:avLst/>
            <a:gdLst/>
            <a:ahLst/>
            <a:cxnLst/>
            <a:rect l="0" t="0" r="0" b="0"/>
            <a:pathLst>
              <a:path w="309276" h="307286">
                <a:moveTo>
                  <a:pt x="142836" y="96021"/>
                </a:moveTo>
                <a:cubicBezTo>
                  <a:pt x="142836" y="88944"/>
                  <a:pt x="148570" y="83219"/>
                  <a:pt x="155638" y="83219"/>
                </a:cubicBezTo>
                <a:lnTo>
                  <a:pt x="296475" y="83219"/>
                </a:lnTo>
                <a:cubicBezTo>
                  <a:pt x="303542" y="83219"/>
                  <a:pt x="309276" y="88944"/>
                  <a:pt x="309276" y="96021"/>
                </a:cubicBezTo>
                <a:lnTo>
                  <a:pt x="309276" y="134483"/>
                </a:lnTo>
                <a:cubicBezTo>
                  <a:pt x="309276" y="141551"/>
                  <a:pt x="303542" y="147285"/>
                  <a:pt x="296475" y="147285"/>
                </a:cubicBezTo>
                <a:lnTo>
                  <a:pt x="155638" y="147285"/>
                </a:lnTo>
                <a:cubicBezTo>
                  <a:pt x="148570" y="147285"/>
                  <a:pt x="142836" y="141551"/>
                  <a:pt x="142836" y="134483"/>
                </a:cubicBezTo>
                <a:lnTo>
                  <a:pt x="142836" y="96021"/>
                </a:lnTo>
                <a:moveTo>
                  <a:pt x="53216" y="12801"/>
                </a:moveTo>
                <a:cubicBezTo>
                  <a:pt x="53216" y="5734"/>
                  <a:pt x="58950" y="0"/>
                  <a:pt x="66027" y="0"/>
                </a:cubicBezTo>
                <a:lnTo>
                  <a:pt x="104432" y="0"/>
                </a:lnTo>
                <a:cubicBezTo>
                  <a:pt x="111499" y="0"/>
                  <a:pt x="117233" y="5734"/>
                  <a:pt x="117233" y="12801"/>
                </a:cubicBezTo>
                <a:lnTo>
                  <a:pt x="117233" y="51206"/>
                </a:lnTo>
                <a:cubicBezTo>
                  <a:pt x="117233" y="58283"/>
                  <a:pt x="111499" y="64017"/>
                  <a:pt x="104432" y="64017"/>
                </a:cubicBezTo>
                <a:lnTo>
                  <a:pt x="66027" y="64017"/>
                </a:lnTo>
                <a:cubicBezTo>
                  <a:pt x="58950" y="64017"/>
                  <a:pt x="53216" y="58283"/>
                  <a:pt x="53216" y="51206"/>
                </a:cubicBezTo>
                <a:lnTo>
                  <a:pt x="53216" y="12801"/>
                </a:lnTo>
                <a:moveTo>
                  <a:pt x="142836" y="12801"/>
                </a:moveTo>
                <a:cubicBezTo>
                  <a:pt x="142836" y="5734"/>
                  <a:pt x="148570" y="0"/>
                  <a:pt x="155638" y="0"/>
                </a:cubicBezTo>
                <a:lnTo>
                  <a:pt x="296475" y="0"/>
                </a:lnTo>
                <a:cubicBezTo>
                  <a:pt x="303542" y="0"/>
                  <a:pt x="309276" y="5734"/>
                  <a:pt x="309276" y="12801"/>
                </a:cubicBezTo>
                <a:lnTo>
                  <a:pt x="309276" y="51263"/>
                </a:lnTo>
                <a:cubicBezTo>
                  <a:pt x="309276" y="58331"/>
                  <a:pt x="303542" y="64065"/>
                  <a:pt x="296475" y="64065"/>
                </a:cubicBezTo>
                <a:lnTo>
                  <a:pt x="155638" y="64065"/>
                </a:lnTo>
                <a:cubicBezTo>
                  <a:pt x="148570" y="64065"/>
                  <a:pt x="142836" y="58331"/>
                  <a:pt x="142836" y="51263"/>
                </a:cubicBezTo>
                <a:lnTo>
                  <a:pt x="142836" y="12801"/>
                </a:lnTo>
                <a:moveTo>
                  <a:pt x="66027" y="83219"/>
                </a:moveTo>
                <a:cubicBezTo>
                  <a:pt x="58950" y="83219"/>
                  <a:pt x="53216" y="88944"/>
                  <a:pt x="53216" y="96021"/>
                </a:cubicBezTo>
                <a:lnTo>
                  <a:pt x="53216" y="119472"/>
                </a:lnTo>
                <a:cubicBezTo>
                  <a:pt x="61007" y="112604"/>
                  <a:pt x="71046" y="108813"/>
                  <a:pt x="81438" y="108823"/>
                </a:cubicBezTo>
                <a:cubicBezTo>
                  <a:pt x="92468" y="108823"/>
                  <a:pt x="103165" y="113090"/>
                  <a:pt x="111128" y="120843"/>
                </a:cubicBezTo>
                <a:cubicBezTo>
                  <a:pt x="113452" y="123120"/>
                  <a:pt x="115509" y="125644"/>
                  <a:pt x="117233" y="128368"/>
                </a:cubicBezTo>
                <a:lnTo>
                  <a:pt x="117233" y="96021"/>
                </a:lnTo>
                <a:cubicBezTo>
                  <a:pt x="117233" y="88944"/>
                  <a:pt x="111499" y="83219"/>
                  <a:pt x="104432" y="83219"/>
                </a:cubicBezTo>
                <a:lnTo>
                  <a:pt x="66027" y="83219"/>
                </a:lnTo>
                <a:moveTo>
                  <a:pt x="81438" y="128025"/>
                </a:moveTo>
                <a:cubicBezTo>
                  <a:pt x="75333" y="128025"/>
                  <a:pt x="69465" y="130397"/>
                  <a:pt x="65151" y="134597"/>
                </a:cubicBezTo>
                <a:cubicBezTo>
                  <a:pt x="60855" y="138760"/>
                  <a:pt x="58416" y="144484"/>
                  <a:pt x="58407" y="150466"/>
                </a:cubicBezTo>
                <a:lnTo>
                  <a:pt x="58407" y="247716"/>
                </a:lnTo>
                <a:cubicBezTo>
                  <a:pt x="58378" y="249173"/>
                  <a:pt x="57550" y="250497"/>
                  <a:pt x="56254" y="251164"/>
                </a:cubicBezTo>
                <a:cubicBezTo>
                  <a:pt x="54997" y="251993"/>
                  <a:pt x="53368" y="251993"/>
                  <a:pt x="52111" y="251164"/>
                </a:cubicBezTo>
                <a:cubicBezTo>
                  <a:pt x="45319" y="245678"/>
                  <a:pt x="39928" y="238906"/>
                  <a:pt x="33337" y="233657"/>
                </a:cubicBezTo>
                <a:cubicBezTo>
                  <a:pt x="26336" y="228171"/>
                  <a:pt x="16516" y="228066"/>
                  <a:pt x="9401" y="233400"/>
                </a:cubicBezTo>
                <a:cubicBezTo>
                  <a:pt x="7124" y="235124"/>
                  <a:pt x="5276" y="237343"/>
                  <a:pt x="3990" y="239887"/>
                </a:cubicBezTo>
                <a:cubicBezTo>
                  <a:pt x="0" y="247726"/>
                  <a:pt x="2152" y="257289"/>
                  <a:pt x="9115" y="262670"/>
                </a:cubicBezTo>
                <a:lnTo>
                  <a:pt x="44881" y="304571"/>
                </a:lnTo>
                <a:cubicBezTo>
                  <a:pt x="46329" y="306304"/>
                  <a:pt x="48472" y="307286"/>
                  <a:pt x="50720" y="307266"/>
                </a:cubicBezTo>
                <a:lnTo>
                  <a:pt x="173564" y="307266"/>
                </a:lnTo>
                <a:cubicBezTo>
                  <a:pt x="175593" y="307266"/>
                  <a:pt x="177536" y="306485"/>
                  <a:pt x="178993" y="305076"/>
                </a:cubicBezTo>
                <a:cubicBezTo>
                  <a:pt x="180432" y="303685"/>
                  <a:pt x="181241" y="301780"/>
                  <a:pt x="181251" y="299789"/>
                </a:cubicBezTo>
                <a:lnTo>
                  <a:pt x="181251" y="267614"/>
                </a:lnTo>
                <a:cubicBezTo>
                  <a:pt x="181251" y="254403"/>
                  <a:pt x="175869" y="241725"/>
                  <a:pt x="166268" y="232381"/>
                </a:cubicBezTo>
                <a:cubicBezTo>
                  <a:pt x="156571" y="222999"/>
                  <a:pt x="143608" y="217760"/>
                  <a:pt x="130111" y="217789"/>
                </a:cubicBezTo>
                <a:lnTo>
                  <a:pt x="112147" y="217789"/>
                </a:lnTo>
                <a:cubicBezTo>
                  <a:pt x="110128" y="217789"/>
                  <a:pt x="108184" y="217017"/>
                  <a:pt x="106718" y="215607"/>
                </a:cubicBezTo>
                <a:cubicBezTo>
                  <a:pt x="105289" y="214217"/>
                  <a:pt x="104470" y="212312"/>
                  <a:pt x="104470" y="210311"/>
                </a:cubicBezTo>
                <a:lnTo>
                  <a:pt x="104470" y="150466"/>
                </a:lnTo>
                <a:cubicBezTo>
                  <a:pt x="104470" y="144513"/>
                  <a:pt x="102041" y="138817"/>
                  <a:pt x="97726" y="134597"/>
                </a:cubicBezTo>
                <a:cubicBezTo>
                  <a:pt x="93354" y="130368"/>
                  <a:pt x="87515" y="128015"/>
                  <a:pt x="81438" y="128025"/>
                </a:cubicBezTo>
              </a:path>
            </a:pathLst>
          </a:custGeom>
          <a:solidFill>
            <a:srgbClr val="ACB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8412" y="1667760"/>
            <a:ext cx="307266" cy="307266"/>
          </a:xfrm>
          <a:custGeom>
            <a:avLst/>
            <a:gdLst/>
            <a:ahLst/>
            <a:cxnLst/>
            <a:rect l="0" t="0" r="0" b="0"/>
            <a:pathLst>
              <a:path w="307266" h="307266">
                <a:moveTo>
                  <a:pt x="187947" y="156190"/>
                </a:moveTo>
                <a:cubicBezTo>
                  <a:pt x="184051" y="159286"/>
                  <a:pt x="178441" y="158896"/>
                  <a:pt x="175012" y="155295"/>
                </a:cubicBezTo>
                <a:lnTo>
                  <a:pt x="140827" y="118805"/>
                </a:lnTo>
                <a:cubicBezTo>
                  <a:pt x="137626" y="115138"/>
                  <a:pt x="137626" y="109670"/>
                  <a:pt x="140827" y="106003"/>
                </a:cubicBezTo>
                <a:lnTo>
                  <a:pt x="174374" y="70161"/>
                </a:lnTo>
                <a:cubicBezTo>
                  <a:pt x="178088" y="67608"/>
                  <a:pt x="183070" y="67989"/>
                  <a:pt x="186356" y="71056"/>
                </a:cubicBezTo>
                <a:cubicBezTo>
                  <a:pt x="189652" y="74133"/>
                  <a:pt x="190366" y="79086"/>
                  <a:pt x="188071" y="82962"/>
                </a:cubicBezTo>
                <a:lnTo>
                  <a:pt x="162467" y="110747"/>
                </a:lnTo>
                <a:cubicBezTo>
                  <a:pt x="161305" y="112013"/>
                  <a:pt x="161305" y="113957"/>
                  <a:pt x="162467" y="115223"/>
                </a:cubicBezTo>
                <a:lnTo>
                  <a:pt x="187947" y="143389"/>
                </a:lnTo>
                <a:cubicBezTo>
                  <a:pt x="191147" y="147056"/>
                  <a:pt x="191147" y="152523"/>
                  <a:pt x="187947" y="156190"/>
                </a:cubicBezTo>
                <a:moveTo>
                  <a:pt x="208559" y="142617"/>
                </a:moveTo>
                <a:lnTo>
                  <a:pt x="234543" y="115347"/>
                </a:lnTo>
                <a:cubicBezTo>
                  <a:pt x="235686" y="114128"/>
                  <a:pt x="235686" y="112223"/>
                  <a:pt x="234543" y="110994"/>
                </a:cubicBezTo>
                <a:lnTo>
                  <a:pt x="208940" y="83086"/>
                </a:lnTo>
                <a:cubicBezTo>
                  <a:pt x="207073" y="81324"/>
                  <a:pt x="206016" y="78867"/>
                  <a:pt x="206016" y="76304"/>
                </a:cubicBezTo>
                <a:cubicBezTo>
                  <a:pt x="206016" y="73733"/>
                  <a:pt x="207073" y="71285"/>
                  <a:pt x="208940" y="69522"/>
                </a:cubicBezTo>
                <a:cubicBezTo>
                  <a:pt x="212683" y="65770"/>
                  <a:pt x="218760" y="65770"/>
                  <a:pt x="222513" y="69522"/>
                </a:cubicBezTo>
                <a:lnTo>
                  <a:pt x="256441" y="106137"/>
                </a:lnTo>
                <a:cubicBezTo>
                  <a:pt x="259641" y="109804"/>
                  <a:pt x="259641" y="115271"/>
                  <a:pt x="256441" y="118938"/>
                </a:cubicBezTo>
                <a:lnTo>
                  <a:pt x="222256" y="155428"/>
                </a:lnTo>
                <a:cubicBezTo>
                  <a:pt x="218541" y="157972"/>
                  <a:pt x="213560" y="157600"/>
                  <a:pt x="210264" y="154524"/>
                </a:cubicBezTo>
                <a:cubicBezTo>
                  <a:pt x="206978" y="151447"/>
                  <a:pt x="206263" y="146494"/>
                  <a:pt x="208559" y="142617"/>
                </a:cubicBezTo>
                <a:moveTo>
                  <a:pt x="299713" y="38404"/>
                </a:moveTo>
                <a:lnTo>
                  <a:pt x="268852" y="7553"/>
                </a:lnTo>
                <a:cubicBezTo>
                  <a:pt x="264080" y="2743"/>
                  <a:pt x="257584" y="28"/>
                  <a:pt x="250802" y="0"/>
                </a:cubicBezTo>
                <a:lnTo>
                  <a:pt x="102422" y="0"/>
                </a:lnTo>
                <a:cubicBezTo>
                  <a:pt x="88277" y="0"/>
                  <a:pt x="76819" y="11468"/>
                  <a:pt x="76819" y="25603"/>
                </a:cubicBezTo>
                <a:lnTo>
                  <a:pt x="76819" y="117909"/>
                </a:lnTo>
                <a:cubicBezTo>
                  <a:pt x="76819" y="119634"/>
                  <a:pt x="78171" y="121043"/>
                  <a:pt x="79886" y="121110"/>
                </a:cubicBezTo>
                <a:cubicBezTo>
                  <a:pt x="84629" y="121110"/>
                  <a:pt x="92687" y="121110"/>
                  <a:pt x="98964" y="122262"/>
                </a:cubicBezTo>
                <a:cubicBezTo>
                  <a:pt x="99860" y="122339"/>
                  <a:pt x="100736" y="122034"/>
                  <a:pt x="101393" y="121424"/>
                </a:cubicBezTo>
                <a:cubicBezTo>
                  <a:pt x="102050" y="120815"/>
                  <a:pt x="102422" y="119957"/>
                  <a:pt x="102422" y="119062"/>
                </a:cubicBezTo>
                <a:lnTo>
                  <a:pt x="102422" y="32004"/>
                </a:lnTo>
                <a:cubicBezTo>
                  <a:pt x="102422" y="28470"/>
                  <a:pt x="105289" y="25603"/>
                  <a:pt x="108823" y="25603"/>
                </a:cubicBezTo>
                <a:lnTo>
                  <a:pt x="248116" y="25603"/>
                </a:lnTo>
                <a:cubicBezTo>
                  <a:pt x="249812" y="25584"/>
                  <a:pt x="251440" y="26279"/>
                  <a:pt x="252593" y="27527"/>
                </a:cubicBezTo>
                <a:lnTo>
                  <a:pt x="279739" y="54663"/>
                </a:lnTo>
                <a:cubicBezTo>
                  <a:pt x="280977" y="55826"/>
                  <a:pt x="281682" y="57454"/>
                  <a:pt x="281654" y="59150"/>
                </a:cubicBezTo>
                <a:lnTo>
                  <a:pt x="281654" y="230447"/>
                </a:lnTo>
                <a:cubicBezTo>
                  <a:pt x="281654" y="233981"/>
                  <a:pt x="278796" y="236848"/>
                  <a:pt x="275253" y="236848"/>
                </a:cubicBezTo>
                <a:lnTo>
                  <a:pt x="187299" y="236848"/>
                </a:lnTo>
                <a:cubicBezTo>
                  <a:pt x="185766" y="236886"/>
                  <a:pt x="184480" y="238020"/>
                  <a:pt x="184232" y="239534"/>
                </a:cubicBezTo>
                <a:cubicBezTo>
                  <a:pt x="183156" y="245916"/>
                  <a:pt x="181489" y="252174"/>
                  <a:pt x="179241" y="258232"/>
                </a:cubicBezTo>
                <a:cubicBezTo>
                  <a:pt x="178860" y="259175"/>
                  <a:pt x="178965" y="260242"/>
                  <a:pt x="179527" y="261089"/>
                </a:cubicBezTo>
                <a:cubicBezTo>
                  <a:pt x="180089" y="261927"/>
                  <a:pt x="181041" y="262442"/>
                  <a:pt x="182051" y="262451"/>
                </a:cubicBezTo>
                <a:lnTo>
                  <a:pt x="281654" y="262451"/>
                </a:lnTo>
                <a:cubicBezTo>
                  <a:pt x="295798" y="262451"/>
                  <a:pt x="307266" y="250993"/>
                  <a:pt x="307266" y="236848"/>
                </a:cubicBezTo>
                <a:lnTo>
                  <a:pt x="307266" y="56588"/>
                </a:lnTo>
                <a:cubicBezTo>
                  <a:pt x="307266" y="49758"/>
                  <a:pt x="304552" y="43214"/>
                  <a:pt x="299713" y="38404"/>
                </a:cubicBezTo>
                <a:moveTo>
                  <a:pt x="83219" y="140827"/>
                </a:moveTo>
                <a:cubicBezTo>
                  <a:pt x="37261" y="140827"/>
                  <a:pt x="0" y="178088"/>
                  <a:pt x="0" y="224047"/>
                </a:cubicBezTo>
                <a:cubicBezTo>
                  <a:pt x="0" y="270005"/>
                  <a:pt x="37261" y="307266"/>
                  <a:pt x="83219" y="307266"/>
                </a:cubicBezTo>
                <a:cubicBezTo>
                  <a:pt x="129178" y="307266"/>
                  <a:pt x="166430" y="270005"/>
                  <a:pt x="166430" y="224047"/>
                </a:cubicBezTo>
                <a:cubicBezTo>
                  <a:pt x="166430" y="178088"/>
                  <a:pt x="129178" y="140827"/>
                  <a:pt x="83219" y="140827"/>
                </a:cubicBezTo>
                <a:moveTo>
                  <a:pt x="32004" y="250936"/>
                </a:moveTo>
                <a:cubicBezTo>
                  <a:pt x="24955" y="237915"/>
                  <a:pt x="23298" y="222656"/>
                  <a:pt x="27393" y="208426"/>
                </a:cubicBezTo>
                <a:cubicBezTo>
                  <a:pt x="32766" y="189090"/>
                  <a:pt x="47882" y="173983"/>
                  <a:pt x="67217" y="168611"/>
                </a:cubicBezTo>
                <a:cubicBezTo>
                  <a:pt x="81438" y="164515"/>
                  <a:pt x="96697" y="166173"/>
                  <a:pt x="109718" y="173221"/>
                </a:cubicBezTo>
                <a:cubicBezTo>
                  <a:pt x="110604" y="173716"/>
                  <a:pt x="111213" y="174602"/>
                  <a:pt x="111337" y="175621"/>
                </a:cubicBezTo>
                <a:cubicBezTo>
                  <a:pt x="111461" y="176631"/>
                  <a:pt x="111099" y="177641"/>
                  <a:pt x="110356" y="178336"/>
                </a:cubicBezTo>
                <a:lnTo>
                  <a:pt x="37509" y="251698"/>
                </a:lnTo>
                <a:cubicBezTo>
                  <a:pt x="36766" y="252383"/>
                  <a:pt x="35766" y="252688"/>
                  <a:pt x="34766" y="252536"/>
                </a:cubicBezTo>
                <a:cubicBezTo>
                  <a:pt x="33775" y="252393"/>
                  <a:pt x="32899" y="251802"/>
                  <a:pt x="32394" y="250936"/>
                </a:cubicBezTo>
                <a:moveTo>
                  <a:pt x="138264" y="239668"/>
                </a:moveTo>
                <a:cubicBezTo>
                  <a:pt x="132892" y="259003"/>
                  <a:pt x="117786" y="274110"/>
                  <a:pt x="98450" y="279482"/>
                </a:cubicBezTo>
                <a:cubicBezTo>
                  <a:pt x="84229" y="283578"/>
                  <a:pt x="68961" y="281920"/>
                  <a:pt x="55949" y="274872"/>
                </a:cubicBezTo>
                <a:cubicBezTo>
                  <a:pt x="55054" y="274377"/>
                  <a:pt x="54454" y="273481"/>
                  <a:pt x="54330" y="272472"/>
                </a:cubicBezTo>
                <a:cubicBezTo>
                  <a:pt x="54206" y="271462"/>
                  <a:pt x="54568" y="270452"/>
                  <a:pt x="55311" y="269747"/>
                </a:cubicBezTo>
                <a:lnTo>
                  <a:pt x="128539" y="196519"/>
                </a:lnTo>
                <a:cubicBezTo>
                  <a:pt x="129235" y="195776"/>
                  <a:pt x="130254" y="195414"/>
                  <a:pt x="131264" y="195548"/>
                </a:cubicBezTo>
                <a:cubicBezTo>
                  <a:pt x="132273" y="195672"/>
                  <a:pt x="133159" y="196272"/>
                  <a:pt x="133664" y="197157"/>
                </a:cubicBezTo>
                <a:cubicBezTo>
                  <a:pt x="140836" y="210121"/>
                  <a:pt x="142627" y="225390"/>
                  <a:pt x="138655" y="239668"/>
                </a:cubicBezTo>
              </a:path>
            </a:pathLst>
          </a:custGeom>
          <a:solidFill>
            <a:srgbClr val="ACB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031" y="2181777"/>
            <a:ext cx="313515" cy="309476"/>
          </a:xfrm>
          <a:custGeom>
            <a:avLst/>
            <a:gdLst/>
            <a:ahLst/>
            <a:cxnLst/>
            <a:rect l="0" t="0" r="0" b="0"/>
            <a:pathLst>
              <a:path w="313515" h="309476">
                <a:moveTo>
                  <a:pt x="25603" y="277768"/>
                </a:moveTo>
                <a:lnTo>
                  <a:pt x="25603" y="25612"/>
                </a:lnTo>
                <a:lnTo>
                  <a:pt x="149380" y="25612"/>
                </a:lnTo>
                <a:cubicBezTo>
                  <a:pt x="149456" y="25631"/>
                  <a:pt x="149504" y="25660"/>
                  <a:pt x="149552" y="25688"/>
                </a:cubicBezTo>
                <a:lnTo>
                  <a:pt x="210416" y="80352"/>
                </a:lnTo>
                <a:cubicBezTo>
                  <a:pt x="215693" y="84943"/>
                  <a:pt x="223675" y="84448"/>
                  <a:pt x="228352" y="79247"/>
                </a:cubicBezTo>
                <a:cubicBezTo>
                  <a:pt x="233019" y="74047"/>
                  <a:pt x="232657" y="66055"/>
                  <a:pt x="227523" y="61302"/>
                </a:cubicBezTo>
                <a:lnTo>
                  <a:pt x="167220" y="7172"/>
                </a:lnTo>
                <a:cubicBezTo>
                  <a:pt x="162515" y="2695"/>
                  <a:pt x="156305" y="142"/>
                  <a:pt x="149809" y="0"/>
                </a:cubicBezTo>
                <a:lnTo>
                  <a:pt x="25165" y="0"/>
                </a:lnTo>
                <a:cubicBezTo>
                  <a:pt x="18535" y="0"/>
                  <a:pt x="12030" y="2257"/>
                  <a:pt x="7143" y="7143"/>
                </a:cubicBezTo>
                <a:cubicBezTo>
                  <a:pt x="2257" y="12011"/>
                  <a:pt x="0" y="18545"/>
                  <a:pt x="0" y="25145"/>
                </a:cubicBezTo>
                <a:lnTo>
                  <a:pt x="0" y="278234"/>
                </a:lnTo>
                <a:cubicBezTo>
                  <a:pt x="0" y="284835"/>
                  <a:pt x="2257" y="291341"/>
                  <a:pt x="7143" y="296227"/>
                </a:cubicBezTo>
                <a:cubicBezTo>
                  <a:pt x="12030" y="301123"/>
                  <a:pt x="18535" y="303371"/>
                  <a:pt x="25155" y="303371"/>
                </a:cubicBezTo>
                <a:lnTo>
                  <a:pt x="148599" y="303371"/>
                </a:lnTo>
                <a:cubicBezTo>
                  <a:pt x="155667" y="303371"/>
                  <a:pt x="161401" y="297646"/>
                  <a:pt x="161401" y="290569"/>
                </a:cubicBezTo>
                <a:cubicBezTo>
                  <a:pt x="161401" y="283502"/>
                  <a:pt x="155667" y="277768"/>
                  <a:pt x="148599" y="277768"/>
                </a:cubicBezTo>
                <a:lnTo>
                  <a:pt x="25603" y="277768"/>
                </a:lnTo>
                <a:moveTo>
                  <a:pt x="68360" y="169135"/>
                </a:moveTo>
                <a:lnTo>
                  <a:pt x="105384" y="169135"/>
                </a:lnTo>
                <a:cubicBezTo>
                  <a:pt x="112461" y="169135"/>
                  <a:pt x="118186" y="174869"/>
                  <a:pt x="118186" y="181937"/>
                </a:cubicBezTo>
                <a:cubicBezTo>
                  <a:pt x="118186" y="189014"/>
                  <a:pt x="112461" y="194748"/>
                  <a:pt x="105384" y="194748"/>
                </a:cubicBezTo>
                <a:lnTo>
                  <a:pt x="68360" y="194748"/>
                </a:lnTo>
                <a:cubicBezTo>
                  <a:pt x="61293" y="194748"/>
                  <a:pt x="55559" y="189014"/>
                  <a:pt x="55559" y="181937"/>
                </a:cubicBezTo>
                <a:cubicBezTo>
                  <a:pt x="55559" y="174869"/>
                  <a:pt x="61293" y="169135"/>
                  <a:pt x="68360" y="169135"/>
                </a:cubicBezTo>
                <a:moveTo>
                  <a:pt x="55559" y="233124"/>
                </a:moveTo>
                <a:cubicBezTo>
                  <a:pt x="55559" y="226056"/>
                  <a:pt x="61293" y="220322"/>
                  <a:pt x="68360" y="220322"/>
                </a:cubicBezTo>
                <a:lnTo>
                  <a:pt x="105384" y="220322"/>
                </a:lnTo>
                <a:cubicBezTo>
                  <a:pt x="112461" y="220322"/>
                  <a:pt x="118186" y="226056"/>
                  <a:pt x="118186" y="233124"/>
                </a:cubicBezTo>
                <a:cubicBezTo>
                  <a:pt x="118186" y="240201"/>
                  <a:pt x="112461" y="245925"/>
                  <a:pt x="105384" y="245925"/>
                </a:cubicBezTo>
                <a:lnTo>
                  <a:pt x="68360" y="245925"/>
                </a:lnTo>
                <a:cubicBezTo>
                  <a:pt x="61293" y="245925"/>
                  <a:pt x="55559" y="240201"/>
                  <a:pt x="55559" y="233124"/>
                </a:cubicBezTo>
                <a:moveTo>
                  <a:pt x="93506" y="43138"/>
                </a:moveTo>
                <a:cubicBezTo>
                  <a:pt x="97440" y="43138"/>
                  <a:pt x="101869" y="44719"/>
                  <a:pt x="104546" y="48758"/>
                </a:cubicBezTo>
                <a:cubicBezTo>
                  <a:pt x="104736" y="49044"/>
                  <a:pt x="104908" y="49358"/>
                  <a:pt x="105051" y="49672"/>
                </a:cubicBezTo>
                <a:lnTo>
                  <a:pt x="114461" y="70599"/>
                </a:lnTo>
                <a:lnTo>
                  <a:pt x="132549" y="70599"/>
                </a:lnTo>
                <a:cubicBezTo>
                  <a:pt x="143760" y="70599"/>
                  <a:pt x="148113" y="84067"/>
                  <a:pt x="140789" y="91401"/>
                </a:cubicBezTo>
                <a:lnTo>
                  <a:pt x="124215" y="106927"/>
                </a:lnTo>
                <a:lnTo>
                  <a:pt x="133407" y="127349"/>
                </a:lnTo>
                <a:cubicBezTo>
                  <a:pt x="136159" y="133026"/>
                  <a:pt x="133730" y="138512"/>
                  <a:pt x="130168" y="141484"/>
                </a:cubicBezTo>
                <a:cubicBezTo>
                  <a:pt x="126139" y="144884"/>
                  <a:pt x="120462" y="145494"/>
                  <a:pt x="115795" y="143046"/>
                </a:cubicBezTo>
                <a:lnTo>
                  <a:pt x="93049" y="130054"/>
                </a:lnTo>
                <a:lnTo>
                  <a:pt x="70304" y="143046"/>
                </a:lnTo>
                <a:cubicBezTo>
                  <a:pt x="65646" y="145494"/>
                  <a:pt x="59959" y="144884"/>
                  <a:pt x="55930" y="141484"/>
                </a:cubicBezTo>
                <a:cubicBezTo>
                  <a:pt x="52387" y="138512"/>
                  <a:pt x="49949" y="133026"/>
                  <a:pt x="52701" y="127349"/>
                </a:cubicBezTo>
                <a:lnTo>
                  <a:pt x="61883" y="106927"/>
                </a:lnTo>
                <a:lnTo>
                  <a:pt x="45472" y="91544"/>
                </a:lnTo>
                <a:cubicBezTo>
                  <a:pt x="37995" y="84067"/>
                  <a:pt x="42348" y="70599"/>
                  <a:pt x="53549" y="70599"/>
                </a:cubicBezTo>
                <a:lnTo>
                  <a:pt x="71637" y="70599"/>
                </a:lnTo>
                <a:lnTo>
                  <a:pt x="81048" y="49672"/>
                </a:lnTo>
                <a:cubicBezTo>
                  <a:pt x="81362" y="48968"/>
                  <a:pt x="81810" y="48329"/>
                  <a:pt x="82353" y="47786"/>
                </a:cubicBezTo>
                <a:cubicBezTo>
                  <a:pt x="85315" y="44815"/>
                  <a:pt x="89325" y="43138"/>
                  <a:pt x="93516" y="43119"/>
                </a:cubicBezTo>
                <a:moveTo>
                  <a:pt x="245668" y="141770"/>
                </a:moveTo>
                <a:lnTo>
                  <a:pt x="250783" y="160972"/>
                </a:lnTo>
                <a:cubicBezTo>
                  <a:pt x="253345" y="167373"/>
                  <a:pt x="259746" y="171211"/>
                  <a:pt x="266147" y="169935"/>
                </a:cubicBezTo>
                <a:lnTo>
                  <a:pt x="285349" y="166087"/>
                </a:lnTo>
                <a:cubicBezTo>
                  <a:pt x="301999" y="162248"/>
                  <a:pt x="313515" y="182737"/>
                  <a:pt x="301999" y="194252"/>
                </a:cubicBezTo>
                <a:lnTo>
                  <a:pt x="289198" y="208340"/>
                </a:lnTo>
                <a:cubicBezTo>
                  <a:pt x="284073" y="213464"/>
                  <a:pt x="284073" y="221141"/>
                  <a:pt x="289198" y="226266"/>
                </a:cubicBezTo>
                <a:lnTo>
                  <a:pt x="301999" y="240344"/>
                </a:lnTo>
                <a:cubicBezTo>
                  <a:pt x="313515" y="253145"/>
                  <a:pt x="301999" y="272357"/>
                  <a:pt x="285349" y="268509"/>
                </a:cubicBezTo>
                <a:lnTo>
                  <a:pt x="266147" y="264671"/>
                </a:lnTo>
                <a:cubicBezTo>
                  <a:pt x="259746" y="263394"/>
                  <a:pt x="253345" y="267233"/>
                  <a:pt x="250783" y="273634"/>
                </a:cubicBezTo>
                <a:lnTo>
                  <a:pt x="245668" y="292836"/>
                </a:lnTo>
                <a:cubicBezTo>
                  <a:pt x="240544" y="309476"/>
                  <a:pt x="217503" y="309476"/>
                  <a:pt x="213655" y="292836"/>
                </a:cubicBezTo>
                <a:lnTo>
                  <a:pt x="208540" y="273634"/>
                </a:lnTo>
                <a:cubicBezTo>
                  <a:pt x="205978" y="267233"/>
                  <a:pt x="199577" y="263394"/>
                  <a:pt x="193176" y="264671"/>
                </a:cubicBezTo>
                <a:lnTo>
                  <a:pt x="173974" y="268509"/>
                </a:lnTo>
                <a:cubicBezTo>
                  <a:pt x="157324" y="272357"/>
                  <a:pt x="145808" y="251869"/>
                  <a:pt x="157324" y="240344"/>
                </a:cubicBezTo>
                <a:lnTo>
                  <a:pt x="170126" y="226266"/>
                </a:lnTo>
                <a:cubicBezTo>
                  <a:pt x="175250" y="221141"/>
                  <a:pt x="175250" y="213464"/>
                  <a:pt x="170126" y="208340"/>
                </a:cubicBezTo>
                <a:lnTo>
                  <a:pt x="157324" y="194252"/>
                </a:lnTo>
                <a:cubicBezTo>
                  <a:pt x="145808" y="181451"/>
                  <a:pt x="157324" y="162248"/>
                  <a:pt x="173974" y="166087"/>
                </a:cubicBezTo>
                <a:lnTo>
                  <a:pt x="193176" y="169935"/>
                </a:lnTo>
                <a:cubicBezTo>
                  <a:pt x="199577" y="171211"/>
                  <a:pt x="205978" y="167373"/>
                  <a:pt x="208540" y="160972"/>
                </a:cubicBezTo>
                <a:lnTo>
                  <a:pt x="213655" y="141770"/>
                </a:lnTo>
                <a:cubicBezTo>
                  <a:pt x="218779" y="126406"/>
                  <a:pt x="241820" y="126406"/>
                  <a:pt x="245668" y="141770"/>
                </a:cubicBezTo>
                <a:moveTo>
                  <a:pt x="229666" y="238667"/>
                </a:moveTo>
                <a:cubicBezTo>
                  <a:pt x="241201" y="238667"/>
                  <a:pt x="250555" y="229314"/>
                  <a:pt x="250555" y="217779"/>
                </a:cubicBezTo>
                <a:cubicBezTo>
                  <a:pt x="250555" y="206235"/>
                  <a:pt x="241201" y="196881"/>
                  <a:pt x="229666" y="196881"/>
                </a:cubicBezTo>
                <a:cubicBezTo>
                  <a:pt x="218122" y="196881"/>
                  <a:pt x="208768" y="206235"/>
                  <a:pt x="208768" y="217779"/>
                </a:cubicBezTo>
                <a:cubicBezTo>
                  <a:pt x="208768" y="229314"/>
                  <a:pt x="218122" y="238667"/>
                  <a:pt x="229666" y="238667"/>
                </a:cubicBezTo>
              </a:path>
            </a:pathLst>
          </a:custGeom>
          <a:solidFill>
            <a:srgbClr val="ACB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5888" y="3393447"/>
            <a:ext cx="311105" cy="309791"/>
          </a:xfrm>
          <a:custGeom>
            <a:avLst/>
            <a:gdLst/>
            <a:ahLst/>
            <a:cxnLst/>
            <a:rect l="0" t="0" r="0" b="0"/>
            <a:pathLst>
              <a:path w="311105" h="309791">
                <a:moveTo>
                  <a:pt x="232971" y="92144"/>
                </a:moveTo>
                <a:cubicBezTo>
                  <a:pt x="236315" y="92163"/>
                  <a:pt x="239525" y="90878"/>
                  <a:pt x="241934" y="88553"/>
                </a:cubicBezTo>
                <a:lnTo>
                  <a:pt x="264852" y="66541"/>
                </a:lnTo>
                <a:cubicBezTo>
                  <a:pt x="265680" y="65684"/>
                  <a:pt x="266928" y="65379"/>
                  <a:pt x="268052" y="65770"/>
                </a:cubicBezTo>
                <a:cubicBezTo>
                  <a:pt x="271167" y="66694"/>
                  <a:pt x="274405" y="67170"/>
                  <a:pt x="277653" y="67179"/>
                </a:cubicBezTo>
                <a:cubicBezTo>
                  <a:pt x="295265" y="67246"/>
                  <a:pt x="309619" y="53073"/>
                  <a:pt x="309781" y="35461"/>
                </a:cubicBezTo>
                <a:cubicBezTo>
                  <a:pt x="309943" y="17859"/>
                  <a:pt x="295846" y="3429"/>
                  <a:pt x="278244" y="3171"/>
                </a:cubicBezTo>
                <a:cubicBezTo>
                  <a:pt x="260632" y="2914"/>
                  <a:pt x="246126" y="16925"/>
                  <a:pt x="245773" y="34528"/>
                </a:cubicBezTo>
                <a:cubicBezTo>
                  <a:pt x="245792" y="38014"/>
                  <a:pt x="246354" y="41462"/>
                  <a:pt x="247440" y="44777"/>
                </a:cubicBezTo>
                <a:cubicBezTo>
                  <a:pt x="247859" y="45900"/>
                  <a:pt x="247554" y="47158"/>
                  <a:pt x="246668" y="47977"/>
                </a:cubicBezTo>
                <a:lnTo>
                  <a:pt x="223885" y="70380"/>
                </a:lnTo>
                <a:cubicBezTo>
                  <a:pt x="220284" y="74056"/>
                  <a:pt x="219227" y="79524"/>
                  <a:pt x="221208" y="84277"/>
                </a:cubicBezTo>
                <a:cubicBezTo>
                  <a:pt x="223189" y="89020"/>
                  <a:pt x="227828" y="92125"/>
                  <a:pt x="232971" y="92144"/>
                </a:cubicBezTo>
                <a:moveTo>
                  <a:pt x="277777" y="245773"/>
                </a:moveTo>
                <a:cubicBezTo>
                  <a:pt x="274300" y="245792"/>
                  <a:pt x="270843" y="246354"/>
                  <a:pt x="267538" y="247440"/>
                </a:cubicBezTo>
                <a:cubicBezTo>
                  <a:pt x="266414" y="247859"/>
                  <a:pt x="265147" y="247554"/>
                  <a:pt x="264337" y="246668"/>
                </a:cubicBezTo>
                <a:lnTo>
                  <a:pt x="241420" y="223751"/>
                </a:lnTo>
                <a:cubicBezTo>
                  <a:pt x="238315" y="220084"/>
                  <a:pt x="233419" y="218455"/>
                  <a:pt x="228733" y="219551"/>
                </a:cubicBezTo>
                <a:cubicBezTo>
                  <a:pt x="224047" y="220637"/>
                  <a:pt x="220370" y="224266"/>
                  <a:pt x="219217" y="228933"/>
                </a:cubicBezTo>
                <a:cubicBezTo>
                  <a:pt x="218055" y="233600"/>
                  <a:pt x="219608" y="238525"/>
                  <a:pt x="223237" y="241677"/>
                </a:cubicBezTo>
                <a:lnTo>
                  <a:pt x="246411" y="265109"/>
                </a:lnTo>
                <a:cubicBezTo>
                  <a:pt x="247297" y="265918"/>
                  <a:pt x="247602" y="267185"/>
                  <a:pt x="247183" y="268309"/>
                </a:cubicBezTo>
                <a:cubicBezTo>
                  <a:pt x="246249" y="271376"/>
                  <a:pt x="245773" y="274567"/>
                  <a:pt x="245773" y="277777"/>
                </a:cubicBezTo>
                <a:cubicBezTo>
                  <a:pt x="245773" y="295455"/>
                  <a:pt x="260108" y="309791"/>
                  <a:pt x="277777" y="309791"/>
                </a:cubicBezTo>
                <a:cubicBezTo>
                  <a:pt x="295455" y="309791"/>
                  <a:pt x="309791" y="295455"/>
                  <a:pt x="309791" y="277777"/>
                </a:cubicBezTo>
                <a:cubicBezTo>
                  <a:pt x="309791" y="260108"/>
                  <a:pt x="295455" y="245773"/>
                  <a:pt x="277777" y="245773"/>
                </a:cubicBezTo>
                <a:moveTo>
                  <a:pt x="34661" y="66541"/>
                </a:moveTo>
                <a:cubicBezTo>
                  <a:pt x="37909" y="66522"/>
                  <a:pt x="41147" y="66055"/>
                  <a:pt x="44262" y="65131"/>
                </a:cubicBezTo>
                <a:cubicBezTo>
                  <a:pt x="45519" y="64884"/>
                  <a:pt x="46796" y="65446"/>
                  <a:pt x="47463" y="66541"/>
                </a:cubicBezTo>
                <a:lnTo>
                  <a:pt x="70504" y="89325"/>
                </a:lnTo>
                <a:cubicBezTo>
                  <a:pt x="72999" y="91335"/>
                  <a:pt x="76142" y="92344"/>
                  <a:pt x="79343" y="92144"/>
                </a:cubicBezTo>
                <a:cubicBezTo>
                  <a:pt x="84515" y="92116"/>
                  <a:pt x="89173" y="88982"/>
                  <a:pt x="91135" y="84191"/>
                </a:cubicBezTo>
                <a:cubicBezTo>
                  <a:pt x="93097" y="79400"/>
                  <a:pt x="91982" y="73894"/>
                  <a:pt x="88306" y="70246"/>
                </a:cubicBezTo>
                <a:lnTo>
                  <a:pt x="65770" y="47977"/>
                </a:lnTo>
                <a:cubicBezTo>
                  <a:pt x="64884" y="47158"/>
                  <a:pt x="64579" y="45900"/>
                  <a:pt x="64998" y="44777"/>
                </a:cubicBezTo>
                <a:cubicBezTo>
                  <a:pt x="66036" y="41462"/>
                  <a:pt x="66560" y="38004"/>
                  <a:pt x="66541" y="34528"/>
                </a:cubicBezTo>
                <a:cubicBezTo>
                  <a:pt x="66541" y="21574"/>
                  <a:pt x="58721" y="9896"/>
                  <a:pt x="46748" y="4952"/>
                </a:cubicBezTo>
                <a:cubicBezTo>
                  <a:pt x="34775" y="0"/>
                  <a:pt x="20993" y="2762"/>
                  <a:pt x="11849" y="11944"/>
                </a:cubicBezTo>
                <a:cubicBezTo>
                  <a:pt x="2705" y="21126"/>
                  <a:pt x="0" y="34909"/>
                  <a:pt x="5000" y="46872"/>
                </a:cubicBezTo>
                <a:cubicBezTo>
                  <a:pt x="9991" y="58826"/>
                  <a:pt x="21697" y="66589"/>
                  <a:pt x="34661" y="66541"/>
                </a:cubicBezTo>
                <a:moveTo>
                  <a:pt x="70894" y="223627"/>
                </a:moveTo>
                <a:lnTo>
                  <a:pt x="47977" y="246668"/>
                </a:lnTo>
                <a:cubicBezTo>
                  <a:pt x="47158" y="247554"/>
                  <a:pt x="45900" y="247859"/>
                  <a:pt x="44777" y="247440"/>
                </a:cubicBezTo>
                <a:cubicBezTo>
                  <a:pt x="41462" y="246354"/>
                  <a:pt x="38014" y="245792"/>
                  <a:pt x="34528" y="245773"/>
                </a:cubicBezTo>
                <a:cubicBezTo>
                  <a:pt x="16849" y="245773"/>
                  <a:pt x="2524" y="260108"/>
                  <a:pt x="2524" y="277777"/>
                </a:cubicBezTo>
                <a:cubicBezTo>
                  <a:pt x="2524" y="295455"/>
                  <a:pt x="16849" y="309791"/>
                  <a:pt x="34528" y="309791"/>
                </a:cubicBezTo>
                <a:cubicBezTo>
                  <a:pt x="52206" y="309791"/>
                  <a:pt x="66541" y="295455"/>
                  <a:pt x="66541" y="277777"/>
                </a:cubicBezTo>
                <a:cubicBezTo>
                  <a:pt x="66532" y="274567"/>
                  <a:pt x="66065" y="271376"/>
                  <a:pt x="65131" y="268309"/>
                </a:cubicBezTo>
                <a:cubicBezTo>
                  <a:pt x="64846" y="267042"/>
                  <a:pt x="65417" y="265747"/>
                  <a:pt x="66541" y="265109"/>
                </a:cubicBezTo>
                <a:lnTo>
                  <a:pt x="89706" y="241677"/>
                </a:lnTo>
                <a:cubicBezTo>
                  <a:pt x="94697" y="236658"/>
                  <a:pt x="94668" y="228542"/>
                  <a:pt x="89649" y="223561"/>
                </a:cubicBezTo>
                <a:cubicBezTo>
                  <a:pt x="84629" y="218579"/>
                  <a:pt x="76514" y="218608"/>
                  <a:pt x="71532" y="223627"/>
                </a:cubicBezTo>
                <a:lnTo>
                  <a:pt x="70894" y="223627"/>
                </a:lnTo>
                <a:moveTo>
                  <a:pt x="232971" y="162686"/>
                </a:moveTo>
                <a:lnTo>
                  <a:pt x="245773" y="162686"/>
                </a:lnTo>
                <a:cubicBezTo>
                  <a:pt x="247002" y="162715"/>
                  <a:pt x="248126" y="163401"/>
                  <a:pt x="248716" y="164477"/>
                </a:cubicBezTo>
                <a:cubicBezTo>
                  <a:pt x="255917" y="178374"/>
                  <a:pt x="272110" y="185023"/>
                  <a:pt x="287007" y="180193"/>
                </a:cubicBezTo>
                <a:cubicBezTo>
                  <a:pt x="301894" y="175374"/>
                  <a:pt x="311105" y="160486"/>
                  <a:pt x="308790" y="145008"/>
                </a:cubicBezTo>
                <a:cubicBezTo>
                  <a:pt x="306476" y="129530"/>
                  <a:pt x="293303" y="118005"/>
                  <a:pt x="277653" y="117748"/>
                </a:cubicBezTo>
                <a:cubicBezTo>
                  <a:pt x="265604" y="117805"/>
                  <a:pt x="254603" y="124567"/>
                  <a:pt x="249107" y="135283"/>
                </a:cubicBezTo>
                <a:cubicBezTo>
                  <a:pt x="248535" y="136312"/>
                  <a:pt x="247459" y="136959"/>
                  <a:pt x="246287" y="136950"/>
                </a:cubicBezTo>
                <a:lnTo>
                  <a:pt x="232971" y="136950"/>
                </a:lnTo>
                <a:cubicBezTo>
                  <a:pt x="225904" y="136950"/>
                  <a:pt x="220170" y="142684"/>
                  <a:pt x="220170" y="149752"/>
                </a:cubicBezTo>
                <a:cubicBezTo>
                  <a:pt x="220170" y="156829"/>
                  <a:pt x="225904" y="162553"/>
                  <a:pt x="232971" y="162553"/>
                </a:cubicBezTo>
                <a:moveTo>
                  <a:pt x="2524" y="149752"/>
                </a:moveTo>
                <a:cubicBezTo>
                  <a:pt x="2581" y="164487"/>
                  <a:pt x="12687" y="177288"/>
                  <a:pt x="27012" y="180746"/>
                </a:cubicBezTo>
                <a:cubicBezTo>
                  <a:pt x="41338" y="184203"/>
                  <a:pt x="56178" y="177431"/>
                  <a:pt x="62950" y="164353"/>
                </a:cubicBezTo>
                <a:cubicBezTo>
                  <a:pt x="63693" y="163106"/>
                  <a:pt x="65093" y="162401"/>
                  <a:pt x="66541" y="162553"/>
                </a:cubicBezTo>
                <a:lnTo>
                  <a:pt x="79343" y="162553"/>
                </a:lnTo>
                <a:cubicBezTo>
                  <a:pt x="86410" y="162553"/>
                  <a:pt x="92144" y="156829"/>
                  <a:pt x="92144" y="149752"/>
                </a:cubicBezTo>
                <a:cubicBezTo>
                  <a:pt x="92144" y="142684"/>
                  <a:pt x="86410" y="136950"/>
                  <a:pt x="79343" y="136950"/>
                </a:cubicBezTo>
                <a:lnTo>
                  <a:pt x="66541" y="136950"/>
                </a:lnTo>
                <a:cubicBezTo>
                  <a:pt x="65360" y="136959"/>
                  <a:pt x="64284" y="136312"/>
                  <a:pt x="63722" y="135283"/>
                </a:cubicBezTo>
                <a:cubicBezTo>
                  <a:pt x="57454" y="121253"/>
                  <a:pt x="42090" y="113661"/>
                  <a:pt x="27136" y="117195"/>
                </a:cubicBezTo>
                <a:cubicBezTo>
                  <a:pt x="12182" y="120738"/>
                  <a:pt x="1847" y="134397"/>
                  <a:pt x="2524" y="149752"/>
                </a:cubicBezTo>
                <a:moveTo>
                  <a:pt x="136826" y="242706"/>
                </a:moveTo>
                <a:cubicBezTo>
                  <a:pt x="136826" y="253307"/>
                  <a:pt x="145418" y="261908"/>
                  <a:pt x="156029" y="261908"/>
                </a:cubicBezTo>
                <a:cubicBezTo>
                  <a:pt x="166630" y="261908"/>
                  <a:pt x="175231" y="253307"/>
                  <a:pt x="175231" y="242706"/>
                </a:cubicBezTo>
                <a:cubicBezTo>
                  <a:pt x="175231" y="232095"/>
                  <a:pt x="166630" y="223494"/>
                  <a:pt x="156029" y="223494"/>
                </a:cubicBezTo>
                <a:cubicBezTo>
                  <a:pt x="145418" y="223494"/>
                  <a:pt x="136826" y="232095"/>
                  <a:pt x="136826" y="242706"/>
                </a:cubicBezTo>
                <a:moveTo>
                  <a:pt x="156152" y="79343"/>
                </a:moveTo>
                <a:cubicBezTo>
                  <a:pt x="126130" y="79409"/>
                  <a:pt x="101812" y="103727"/>
                  <a:pt x="101746" y="133750"/>
                </a:cubicBezTo>
                <a:cubicBezTo>
                  <a:pt x="101746" y="142589"/>
                  <a:pt x="108908" y="149752"/>
                  <a:pt x="117748" y="149752"/>
                </a:cubicBezTo>
                <a:cubicBezTo>
                  <a:pt x="126587" y="149752"/>
                  <a:pt x="133750" y="142589"/>
                  <a:pt x="133750" y="133750"/>
                </a:cubicBezTo>
                <a:cubicBezTo>
                  <a:pt x="133788" y="122567"/>
                  <a:pt x="142065" y="113128"/>
                  <a:pt x="153142" y="111632"/>
                </a:cubicBezTo>
                <a:cubicBezTo>
                  <a:pt x="164220" y="110128"/>
                  <a:pt x="174717" y="117014"/>
                  <a:pt x="177726" y="127787"/>
                </a:cubicBezTo>
                <a:cubicBezTo>
                  <a:pt x="180746" y="138550"/>
                  <a:pt x="175364" y="149894"/>
                  <a:pt x="165115" y="154362"/>
                </a:cubicBezTo>
                <a:cubicBezTo>
                  <a:pt x="149885" y="161048"/>
                  <a:pt x="140074" y="176136"/>
                  <a:pt x="140150" y="192766"/>
                </a:cubicBezTo>
                <a:lnTo>
                  <a:pt x="140150" y="198024"/>
                </a:lnTo>
                <a:cubicBezTo>
                  <a:pt x="140150" y="206854"/>
                  <a:pt x="147313" y="214026"/>
                  <a:pt x="156152" y="214026"/>
                </a:cubicBezTo>
                <a:cubicBezTo>
                  <a:pt x="164992" y="214026"/>
                  <a:pt x="172154" y="206854"/>
                  <a:pt x="172154" y="198024"/>
                </a:cubicBezTo>
                <a:lnTo>
                  <a:pt x="172154" y="192766"/>
                </a:lnTo>
                <a:cubicBezTo>
                  <a:pt x="172183" y="188947"/>
                  <a:pt x="174431" y="185499"/>
                  <a:pt x="177917" y="183937"/>
                </a:cubicBezTo>
                <a:cubicBezTo>
                  <a:pt x="201958" y="173878"/>
                  <a:pt x="215493" y="148180"/>
                  <a:pt x="210178" y="122662"/>
                </a:cubicBezTo>
                <a:cubicBezTo>
                  <a:pt x="204873" y="97145"/>
                  <a:pt x="182213" y="78981"/>
                  <a:pt x="156152" y="79343"/>
                </a:cubicBezTo>
              </a:path>
            </a:pathLst>
          </a:custGeom>
          <a:solidFill>
            <a:srgbClr val="ACB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8412" y="2756038"/>
            <a:ext cx="307266" cy="307409"/>
          </a:xfrm>
          <a:custGeom>
            <a:avLst/>
            <a:gdLst/>
            <a:ahLst/>
            <a:cxnLst/>
            <a:rect l="0" t="0" r="0" b="0"/>
            <a:pathLst>
              <a:path w="307266" h="307409">
                <a:moveTo>
                  <a:pt x="76819" y="186013"/>
                </a:moveTo>
                <a:cubicBezTo>
                  <a:pt x="77028" y="178203"/>
                  <a:pt x="72475" y="171049"/>
                  <a:pt x="65322" y="167916"/>
                </a:cubicBezTo>
                <a:cubicBezTo>
                  <a:pt x="58169" y="164782"/>
                  <a:pt x="49825" y="166296"/>
                  <a:pt x="44224" y="171745"/>
                </a:cubicBezTo>
                <a:cubicBezTo>
                  <a:pt x="38623" y="177193"/>
                  <a:pt x="36890" y="185489"/>
                  <a:pt x="39824" y="192728"/>
                </a:cubicBezTo>
                <a:cubicBezTo>
                  <a:pt x="42767" y="199967"/>
                  <a:pt x="49796" y="204701"/>
                  <a:pt x="57607" y="204711"/>
                </a:cubicBezTo>
                <a:cubicBezTo>
                  <a:pt x="68018" y="204711"/>
                  <a:pt x="76542" y="196424"/>
                  <a:pt x="76819" y="186013"/>
                </a:cubicBezTo>
                <a:moveTo>
                  <a:pt x="162467" y="253869"/>
                </a:moveTo>
                <a:cubicBezTo>
                  <a:pt x="159924" y="251574"/>
                  <a:pt x="156581" y="250393"/>
                  <a:pt x="153162" y="250583"/>
                </a:cubicBezTo>
                <a:cubicBezTo>
                  <a:pt x="149742" y="250783"/>
                  <a:pt x="146551" y="252326"/>
                  <a:pt x="144284" y="254898"/>
                </a:cubicBezTo>
                <a:cubicBezTo>
                  <a:pt x="134521" y="265271"/>
                  <a:pt x="120415" y="270405"/>
                  <a:pt x="106260" y="268719"/>
                </a:cubicBezTo>
                <a:cubicBezTo>
                  <a:pt x="89096" y="267747"/>
                  <a:pt x="72266" y="273796"/>
                  <a:pt x="59664" y="285492"/>
                </a:cubicBezTo>
                <a:cubicBezTo>
                  <a:pt x="54692" y="290483"/>
                  <a:pt x="54692" y="298551"/>
                  <a:pt x="59664" y="303542"/>
                </a:cubicBezTo>
                <a:cubicBezTo>
                  <a:pt x="62055" y="305990"/>
                  <a:pt x="65331" y="307371"/>
                  <a:pt x="68751" y="307390"/>
                </a:cubicBezTo>
                <a:cubicBezTo>
                  <a:pt x="72151" y="307409"/>
                  <a:pt x="75428" y="306066"/>
                  <a:pt x="77838" y="303676"/>
                </a:cubicBezTo>
                <a:cubicBezTo>
                  <a:pt x="85715" y="296941"/>
                  <a:pt x="95926" y="293589"/>
                  <a:pt x="106260" y="294332"/>
                </a:cubicBezTo>
                <a:cubicBezTo>
                  <a:pt x="127701" y="296008"/>
                  <a:pt x="148732" y="287807"/>
                  <a:pt x="163363" y="272053"/>
                </a:cubicBezTo>
                <a:cubicBezTo>
                  <a:pt x="165668" y="269528"/>
                  <a:pt x="166877" y="266185"/>
                  <a:pt x="166706" y="262775"/>
                </a:cubicBezTo>
                <a:cubicBezTo>
                  <a:pt x="166535" y="259356"/>
                  <a:pt x="165011" y="256155"/>
                  <a:pt x="162467" y="253869"/>
                </a:cubicBezTo>
                <a:moveTo>
                  <a:pt x="242230" y="204711"/>
                </a:moveTo>
                <a:lnTo>
                  <a:pt x="250545" y="172831"/>
                </a:lnTo>
                <a:cubicBezTo>
                  <a:pt x="251393" y="169525"/>
                  <a:pt x="250888" y="166030"/>
                  <a:pt x="249135" y="163096"/>
                </a:cubicBezTo>
                <a:cubicBezTo>
                  <a:pt x="247421" y="160181"/>
                  <a:pt x="244611" y="158067"/>
                  <a:pt x="241325" y="157210"/>
                </a:cubicBezTo>
                <a:lnTo>
                  <a:pt x="228523" y="153885"/>
                </a:lnTo>
                <a:lnTo>
                  <a:pt x="261432" y="26755"/>
                </a:lnTo>
                <a:cubicBezTo>
                  <a:pt x="262890" y="20059"/>
                  <a:pt x="258832" y="13401"/>
                  <a:pt x="252212" y="11649"/>
                </a:cubicBezTo>
                <a:lnTo>
                  <a:pt x="210216" y="761"/>
                </a:lnTo>
                <a:cubicBezTo>
                  <a:pt x="206911" y="0"/>
                  <a:pt x="203444" y="504"/>
                  <a:pt x="200491" y="2171"/>
                </a:cubicBezTo>
                <a:lnTo>
                  <a:pt x="151838" y="30851"/>
                </a:lnTo>
                <a:cubicBezTo>
                  <a:pt x="146246" y="34175"/>
                  <a:pt x="144046" y="41176"/>
                  <a:pt x="146723" y="47110"/>
                </a:cubicBezTo>
                <a:lnTo>
                  <a:pt x="158495" y="73609"/>
                </a:lnTo>
                <a:cubicBezTo>
                  <a:pt x="160029" y="76942"/>
                  <a:pt x="162915" y="79467"/>
                  <a:pt x="166430" y="80524"/>
                </a:cubicBezTo>
                <a:cubicBezTo>
                  <a:pt x="169897" y="81629"/>
                  <a:pt x="173669" y="81210"/>
                  <a:pt x="176803" y="79371"/>
                </a:cubicBezTo>
                <a:lnTo>
                  <a:pt x="181155" y="76685"/>
                </a:lnTo>
                <a:lnTo>
                  <a:pt x="165277" y="138007"/>
                </a:lnTo>
                <a:lnTo>
                  <a:pt x="152476" y="134550"/>
                </a:lnTo>
                <a:cubicBezTo>
                  <a:pt x="149171" y="133788"/>
                  <a:pt x="145703" y="134292"/>
                  <a:pt x="142751" y="135959"/>
                </a:cubicBezTo>
                <a:cubicBezTo>
                  <a:pt x="139826" y="137683"/>
                  <a:pt x="137712" y="140484"/>
                  <a:pt x="136864" y="143770"/>
                </a:cubicBezTo>
                <a:lnTo>
                  <a:pt x="128025" y="175774"/>
                </a:lnTo>
                <a:cubicBezTo>
                  <a:pt x="127025" y="179193"/>
                  <a:pt x="127482" y="182870"/>
                  <a:pt x="129311" y="185937"/>
                </a:cubicBezTo>
                <a:cubicBezTo>
                  <a:pt x="131130" y="188995"/>
                  <a:pt x="134140" y="191157"/>
                  <a:pt x="137626" y="191909"/>
                </a:cubicBezTo>
                <a:lnTo>
                  <a:pt x="171430" y="200615"/>
                </a:lnTo>
                <a:lnTo>
                  <a:pt x="129435" y="217512"/>
                </a:lnTo>
                <a:cubicBezTo>
                  <a:pt x="122891" y="220265"/>
                  <a:pt x="119824" y="227809"/>
                  <a:pt x="122586" y="234343"/>
                </a:cubicBezTo>
                <a:cubicBezTo>
                  <a:pt x="125339" y="240887"/>
                  <a:pt x="132883" y="243954"/>
                  <a:pt x="139417" y="241192"/>
                </a:cubicBezTo>
                <a:lnTo>
                  <a:pt x="171040" y="228390"/>
                </a:lnTo>
                <a:lnTo>
                  <a:pt x="182308" y="260908"/>
                </a:lnTo>
                <a:cubicBezTo>
                  <a:pt x="184099" y="266033"/>
                  <a:pt x="188918" y="269471"/>
                  <a:pt x="194348" y="269490"/>
                </a:cubicBezTo>
                <a:cubicBezTo>
                  <a:pt x="195776" y="269462"/>
                  <a:pt x="197196" y="269252"/>
                  <a:pt x="198567" y="268852"/>
                </a:cubicBezTo>
                <a:cubicBezTo>
                  <a:pt x="205244" y="266547"/>
                  <a:pt x="208797" y="259270"/>
                  <a:pt x="206511" y="252593"/>
                </a:cubicBezTo>
                <a:lnTo>
                  <a:pt x="190757" y="206882"/>
                </a:lnTo>
                <a:cubicBezTo>
                  <a:pt x="190642" y="206197"/>
                  <a:pt x="190376" y="205539"/>
                  <a:pt x="189995" y="204968"/>
                </a:cubicBezTo>
                <a:lnTo>
                  <a:pt x="226609" y="214436"/>
                </a:lnTo>
                <a:cubicBezTo>
                  <a:pt x="229904" y="215284"/>
                  <a:pt x="233410" y="214779"/>
                  <a:pt x="236334" y="213026"/>
                </a:cubicBezTo>
                <a:cubicBezTo>
                  <a:pt x="239363" y="211188"/>
                  <a:pt x="241496" y="208178"/>
                  <a:pt x="242230" y="204711"/>
                </a:cubicBezTo>
                <a:moveTo>
                  <a:pt x="51206" y="76685"/>
                </a:moveTo>
                <a:lnTo>
                  <a:pt x="51206" y="63884"/>
                </a:lnTo>
                <a:lnTo>
                  <a:pt x="64017" y="63884"/>
                </a:lnTo>
                <a:cubicBezTo>
                  <a:pt x="71085" y="63884"/>
                  <a:pt x="76819" y="58150"/>
                  <a:pt x="76819" y="51073"/>
                </a:cubicBezTo>
                <a:cubicBezTo>
                  <a:pt x="76819" y="44005"/>
                  <a:pt x="71085" y="38271"/>
                  <a:pt x="64017" y="38271"/>
                </a:cubicBezTo>
                <a:lnTo>
                  <a:pt x="51206" y="38271"/>
                </a:lnTo>
                <a:lnTo>
                  <a:pt x="51206" y="25469"/>
                </a:lnTo>
                <a:cubicBezTo>
                  <a:pt x="51206" y="18402"/>
                  <a:pt x="45481" y="12668"/>
                  <a:pt x="38404" y="12668"/>
                </a:cubicBezTo>
                <a:cubicBezTo>
                  <a:pt x="31337" y="12668"/>
                  <a:pt x="25603" y="18402"/>
                  <a:pt x="25603" y="25469"/>
                </a:cubicBezTo>
                <a:lnTo>
                  <a:pt x="25603" y="38271"/>
                </a:lnTo>
                <a:lnTo>
                  <a:pt x="12801" y="38271"/>
                </a:lnTo>
                <a:cubicBezTo>
                  <a:pt x="5734" y="38271"/>
                  <a:pt x="0" y="44005"/>
                  <a:pt x="0" y="51073"/>
                </a:cubicBezTo>
                <a:cubicBezTo>
                  <a:pt x="0" y="58150"/>
                  <a:pt x="5734" y="63884"/>
                  <a:pt x="12801" y="63884"/>
                </a:cubicBezTo>
                <a:lnTo>
                  <a:pt x="25603" y="63884"/>
                </a:lnTo>
                <a:lnTo>
                  <a:pt x="25603" y="76685"/>
                </a:lnTo>
                <a:cubicBezTo>
                  <a:pt x="25603" y="83753"/>
                  <a:pt x="31337" y="89487"/>
                  <a:pt x="38404" y="89487"/>
                </a:cubicBezTo>
                <a:cubicBezTo>
                  <a:pt x="45481" y="89487"/>
                  <a:pt x="51206" y="83753"/>
                  <a:pt x="51206" y="76685"/>
                </a:cubicBezTo>
                <a:moveTo>
                  <a:pt x="294465" y="255917"/>
                </a:moveTo>
                <a:lnTo>
                  <a:pt x="281654" y="255917"/>
                </a:lnTo>
                <a:lnTo>
                  <a:pt x="281654" y="243116"/>
                </a:lnTo>
                <a:cubicBezTo>
                  <a:pt x="281654" y="236048"/>
                  <a:pt x="275929" y="230314"/>
                  <a:pt x="268852" y="230314"/>
                </a:cubicBezTo>
                <a:cubicBezTo>
                  <a:pt x="261785" y="230314"/>
                  <a:pt x="256051" y="236048"/>
                  <a:pt x="256051" y="243116"/>
                </a:cubicBezTo>
                <a:lnTo>
                  <a:pt x="256051" y="255917"/>
                </a:lnTo>
                <a:lnTo>
                  <a:pt x="243249" y="255917"/>
                </a:lnTo>
                <a:cubicBezTo>
                  <a:pt x="236181" y="255917"/>
                  <a:pt x="230447" y="261651"/>
                  <a:pt x="230447" y="268719"/>
                </a:cubicBezTo>
                <a:cubicBezTo>
                  <a:pt x="230447" y="275796"/>
                  <a:pt x="236181" y="281520"/>
                  <a:pt x="243249" y="281520"/>
                </a:cubicBezTo>
                <a:lnTo>
                  <a:pt x="256051" y="281520"/>
                </a:lnTo>
                <a:lnTo>
                  <a:pt x="256051" y="294332"/>
                </a:lnTo>
                <a:cubicBezTo>
                  <a:pt x="256051" y="301399"/>
                  <a:pt x="261785" y="307133"/>
                  <a:pt x="268852" y="307133"/>
                </a:cubicBezTo>
                <a:cubicBezTo>
                  <a:pt x="275929" y="307133"/>
                  <a:pt x="281654" y="301399"/>
                  <a:pt x="281654" y="294332"/>
                </a:cubicBezTo>
                <a:lnTo>
                  <a:pt x="281654" y="281520"/>
                </a:lnTo>
                <a:lnTo>
                  <a:pt x="294465" y="281520"/>
                </a:lnTo>
                <a:cubicBezTo>
                  <a:pt x="301532" y="281520"/>
                  <a:pt x="307266" y="275796"/>
                  <a:pt x="307266" y="268719"/>
                </a:cubicBezTo>
                <a:cubicBezTo>
                  <a:pt x="307266" y="261651"/>
                  <a:pt x="301532" y="255917"/>
                  <a:pt x="294465" y="255917"/>
                </a:cubicBezTo>
              </a:path>
            </a:pathLst>
          </a:custGeom>
          <a:solidFill>
            <a:srgbClr val="ACB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87872" y="1744573"/>
            <a:ext cx="10953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1355D6"/>
                </a:solidFill>
                <a:latin typeface="STIX Two Tex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8953" y="2666315"/>
            <a:ext cx="1445895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355D6"/>
                </a:solidFill>
                <a:latin typeface="STIX Two Text"/>
              </a:rPr>
              <a:t>Calculate Final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8953" y="1642167"/>
            <a:ext cx="1632108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355D6"/>
                </a:solidFill>
                <a:latin typeface="STIX Two Text"/>
              </a:rPr>
              <a:t>Apply Hard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7872" y="2832717"/>
            <a:ext cx="10953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1355D6"/>
                </a:solidFill>
                <a:latin typeface="STIX Two Text"/>
              </a:rPr>
              <a:t>3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868953" y="2896763"/>
            <a:ext cx="2143125" cy="255984"/>
            <a:chOff x="3868953" y="2896763"/>
            <a:chExt cx="2143125" cy="255984"/>
          </a:xfrm>
        </p:grpSpPr>
        <p:sp>
          <p:nvSpPr>
            <p:cNvPr id="31" name="TextBox 30"/>
            <p:cNvSpPr txBox="1"/>
            <p:nvPr/>
          </p:nvSpPr>
          <p:spPr>
            <a:xfrm>
              <a:off x="3868953" y="2896763"/>
              <a:ext cx="2464593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Determine the best combination using the scoring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68953" y="3024779"/>
              <a:ext cx="2464593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formula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90525" y="371475"/>
            <a:ext cx="85439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0D1116"/>
                </a:solidFill>
                <a:latin typeface="STIX Two Text"/>
              </a:rPr>
              <a:t>How the “AI” Makes Recommendations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390525" y="2814847"/>
            <a:ext cx="2343150" cy="1142579"/>
            <a:chOff x="390525" y="2814847"/>
            <a:chExt cx="2343150" cy="1142579"/>
          </a:xfrm>
        </p:grpSpPr>
        <p:sp>
          <p:nvSpPr>
            <p:cNvPr id="35" name="TextBox 34"/>
            <p:cNvSpPr txBox="1"/>
            <p:nvPr/>
          </p:nvSpPr>
          <p:spPr>
            <a:xfrm>
              <a:off x="390525" y="2814847"/>
              <a:ext cx="2694622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Final Score = (Style + Quality +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0525" y="3005251"/>
              <a:ext cx="26946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Preference) - (Budget + Space +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0525" y="3195751"/>
              <a:ext cx="2694622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Compatibility Penalties). The engine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525" y="3386156"/>
              <a:ext cx="2694622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evaluates all 3,136+ combinations (7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0525" y="3576561"/>
              <a:ext cx="2694622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Toilets × 8 Showers × 7 Vanities × 8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0525" y="3766966"/>
              <a:ext cx="2694622" cy="190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Faucets).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868953" y="2384691"/>
            <a:ext cx="2272902" cy="12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ACBDCD"/>
                </a:solidFill>
                <a:latin typeface="Roboto"/>
              </a:rPr>
              <a:t>Score remaining options based on preferences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7872" y="3472785"/>
            <a:ext cx="10953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1355D6"/>
                </a:solidFill>
                <a:latin typeface="STIX Two Text"/>
              </a:rPr>
              <a:t>4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868953" y="3536830"/>
            <a:ext cx="1714500" cy="255984"/>
            <a:chOff x="3868953" y="3536830"/>
            <a:chExt cx="1714500" cy="255984"/>
          </a:xfrm>
        </p:grpSpPr>
        <p:sp>
          <p:nvSpPr>
            <p:cNvPr id="44" name="TextBox 43"/>
            <p:cNvSpPr txBox="1"/>
            <p:nvPr/>
          </p:nvSpPr>
          <p:spPr>
            <a:xfrm>
              <a:off x="3868953" y="3536830"/>
              <a:ext cx="1971675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Exhaustively search through all possible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868953" y="3664846"/>
              <a:ext cx="1971675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combinations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3868953" y="2154242"/>
            <a:ext cx="1544478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355D6"/>
                </a:solidFill>
                <a:latin typeface="STIX Two Text"/>
              </a:rPr>
              <a:t>Apply Soft Constraints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7872" y="2256647"/>
            <a:ext cx="10953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1355D6"/>
                </a:solidFill>
                <a:latin typeface="STIX Two Text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8953" y="3946449"/>
            <a:ext cx="832485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355D6"/>
                </a:solidFill>
                <a:latin typeface="STIX Two Text"/>
              </a:rPr>
              <a:t>Select Mode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90525" y="1957596"/>
            <a:ext cx="2376487" cy="685800"/>
            <a:chOff x="390525" y="1957596"/>
            <a:chExt cx="2376487" cy="685800"/>
          </a:xfrm>
        </p:grpSpPr>
        <p:sp>
          <p:nvSpPr>
            <p:cNvPr id="50" name="TextBox 49"/>
            <p:cNvSpPr txBox="1"/>
            <p:nvPr/>
          </p:nvSpPr>
          <p:spPr>
            <a:xfrm>
              <a:off x="390525" y="1957596"/>
              <a:ext cx="2732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Explainable Optimization via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0525" y="2186196"/>
              <a:ext cx="2732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Exhaustive Search — Not a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0525" y="2414796"/>
              <a:ext cx="2732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Trained ML Model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487872" y="4112850"/>
            <a:ext cx="10953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1355D6"/>
                </a:solidFill>
                <a:latin typeface="STIX Two Text"/>
              </a:rPr>
              <a:t>5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3868953" y="4176896"/>
            <a:ext cx="2276475" cy="255984"/>
            <a:chOff x="3868953" y="4176896"/>
            <a:chExt cx="2276475" cy="255984"/>
          </a:xfrm>
        </p:grpSpPr>
        <p:sp>
          <p:nvSpPr>
            <p:cNvPr id="55" name="TextBox 54"/>
            <p:cNvSpPr txBox="1"/>
            <p:nvPr/>
          </p:nvSpPr>
          <p:spPr>
            <a:xfrm>
              <a:off x="3868953" y="4176896"/>
              <a:ext cx="2617946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Choose the recommendation mode (Value, Balanced,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868953" y="4304912"/>
              <a:ext cx="2617946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ACBDCD"/>
                  </a:solidFill>
                  <a:latin typeface="Roboto"/>
                </a:rPr>
                <a:t>Luxury)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868953" y="1872618"/>
            <a:ext cx="1489710" cy="12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ACBDCD"/>
                </a:solidFill>
                <a:latin typeface="Roboto"/>
              </a:rPr>
              <a:t>Filter out incompatible options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68953" y="3306383"/>
            <a:ext cx="1599247" cy="153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355D6"/>
                </a:solidFill>
                <a:latin typeface="STIX Two Text"/>
              </a:rPr>
              <a:t>Evaluate Combinations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51559" y="1543008"/>
            <a:ext cx="1904809" cy="1614487"/>
          </a:xfrm>
          <a:custGeom>
            <a:avLst/>
            <a:gdLst/>
            <a:ahLst/>
            <a:cxnLst/>
            <a:rect l="0" t="0" r="0" b="0"/>
            <a:pathLst>
              <a:path w="1904809" h="1614487">
                <a:moveTo>
                  <a:pt x="0" y="1614487"/>
                </a:moveTo>
                <a:lnTo>
                  <a:pt x="764752" y="1614487"/>
                </a:lnTo>
                <a:lnTo>
                  <a:pt x="764752" y="1536592"/>
                </a:lnTo>
                <a:lnTo>
                  <a:pt x="722271" y="1536592"/>
                </a:lnTo>
                <a:lnTo>
                  <a:pt x="849725" y="1409138"/>
                </a:lnTo>
                <a:lnTo>
                  <a:pt x="977188" y="1536592"/>
                </a:lnTo>
                <a:lnTo>
                  <a:pt x="934707" y="1536592"/>
                </a:lnTo>
                <a:lnTo>
                  <a:pt x="934707" y="1614487"/>
                </a:lnTo>
                <a:lnTo>
                  <a:pt x="1699460" y="1614487"/>
                </a:lnTo>
                <a:lnTo>
                  <a:pt x="1699460" y="1359569"/>
                </a:lnTo>
                <a:lnTo>
                  <a:pt x="1777355" y="1359569"/>
                </a:lnTo>
                <a:lnTo>
                  <a:pt x="1777355" y="1402051"/>
                </a:lnTo>
                <a:lnTo>
                  <a:pt x="1904809" y="1274597"/>
                </a:lnTo>
                <a:lnTo>
                  <a:pt x="1777355" y="1147133"/>
                </a:lnTo>
                <a:lnTo>
                  <a:pt x="1777355" y="1189624"/>
                </a:lnTo>
                <a:lnTo>
                  <a:pt x="1699460" y="1189624"/>
                </a:lnTo>
                <a:lnTo>
                  <a:pt x="1699460" y="0"/>
                </a:lnTo>
                <a:lnTo>
                  <a:pt x="0" y="0"/>
                </a:lnTo>
                <a:lnTo>
                  <a:pt x="0" y="1614487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51559" y="1543008"/>
            <a:ext cx="1904811" cy="1614487"/>
          </a:xfrm>
          <a:custGeom>
            <a:avLst/>
            <a:gdLst/>
            <a:ahLst/>
            <a:cxnLst/>
            <a:rect l="0" t="0" r="0" b="0"/>
            <a:pathLst>
              <a:path w="1904811" h="1614487">
                <a:moveTo>
                  <a:pt x="1699460" y="1189622"/>
                </a:moveTo>
                <a:lnTo>
                  <a:pt x="1699460" y="0"/>
                </a:lnTo>
                <a:lnTo>
                  <a:pt x="0" y="0"/>
                </a:lnTo>
                <a:lnTo>
                  <a:pt x="0" y="1189622"/>
                </a:lnTo>
                <a:moveTo>
                  <a:pt x="1699460" y="1189622"/>
                </a:moveTo>
                <a:lnTo>
                  <a:pt x="1777352" y="1189622"/>
                </a:lnTo>
                <a:lnTo>
                  <a:pt x="1777352" y="1147135"/>
                </a:lnTo>
                <a:lnTo>
                  <a:pt x="1904811" y="1274595"/>
                </a:lnTo>
                <a:lnTo>
                  <a:pt x="1777352" y="1402054"/>
                </a:lnTo>
                <a:lnTo>
                  <a:pt x="1777352" y="1359568"/>
                </a:lnTo>
                <a:lnTo>
                  <a:pt x="1699460" y="1359568"/>
                </a:lnTo>
                <a:lnTo>
                  <a:pt x="1699460" y="1614487"/>
                </a:lnTo>
                <a:lnTo>
                  <a:pt x="934703" y="1614487"/>
                </a:lnTo>
                <a:lnTo>
                  <a:pt x="934703" y="1536595"/>
                </a:lnTo>
                <a:lnTo>
                  <a:pt x="977189" y="1536595"/>
                </a:lnTo>
                <a:lnTo>
                  <a:pt x="849730" y="1409135"/>
                </a:lnTo>
                <a:lnTo>
                  <a:pt x="722270" y="1536595"/>
                </a:lnTo>
                <a:lnTo>
                  <a:pt x="764757" y="1536595"/>
                </a:lnTo>
                <a:lnTo>
                  <a:pt x="764757" y="1614487"/>
                </a:lnTo>
                <a:lnTo>
                  <a:pt x="0" y="1614487"/>
                </a:lnTo>
                <a:lnTo>
                  <a:pt x="0" y="1189622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51018" y="1543008"/>
            <a:ext cx="1904809" cy="1819836"/>
          </a:xfrm>
          <a:custGeom>
            <a:avLst/>
            <a:gdLst/>
            <a:ahLst/>
            <a:cxnLst/>
            <a:rect l="0" t="0" r="0" b="0"/>
            <a:pathLst>
              <a:path w="1904809" h="1819836">
                <a:moveTo>
                  <a:pt x="0" y="1189624"/>
                </a:moveTo>
                <a:lnTo>
                  <a:pt x="77895" y="1189624"/>
                </a:lnTo>
                <a:lnTo>
                  <a:pt x="77895" y="1147133"/>
                </a:lnTo>
                <a:lnTo>
                  <a:pt x="205349" y="1274597"/>
                </a:lnTo>
                <a:lnTo>
                  <a:pt x="77895" y="1402051"/>
                </a:lnTo>
                <a:lnTo>
                  <a:pt x="77895" y="1359569"/>
                </a:lnTo>
                <a:lnTo>
                  <a:pt x="0" y="1359569"/>
                </a:lnTo>
                <a:lnTo>
                  <a:pt x="0" y="1614487"/>
                </a:lnTo>
                <a:lnTo>
                  <a:pt x="764752" y="1614487"/>
                </a:lnTo>
                <a:lnTo>
                  <a:pt x="764752" y="1692382"/>
                </a:lnTo>
                <a:lnTo>
                  <a:pt x="722271" y="1692382"/>
                </a:lnTo>
                <a:lnTo>
                  <a:pt x="849734" y="1819836"/>
                </a:lnTo>
                <a:lnTo>
                  <a:pt x="977188" y="1692382"/>
                </a:lnTo>
                <a:lnTo>
                  <a:pt x="934707" y="1692382"/>
                </a:lnTo>
                <a:lnTo>
                  <a:pt x="934707" y="1614487"/>
                </a:lnTo>
                <a:lnTo>
                  <a:pt x="1699460" y="1614487"/>
                </a:lnTo>
                <a:lnTo>
                  <a:pt x="1699460" y="1359569"/>
                </a:lnTo>
                <a:lnTo>
                  <a:pt x="1777355" y="1359569"/>
                </a:lnTo>
                <a:lnTo>
                  <a:pt x="1777355" y="1402051"/>
                </a:lnTo>
                <a:lnTo>
                  <a:pt x="1904809" y="1274597"/>
                </a:lnTo>
                <a:lnTo>
                  <a:pt x="1777355" y="1147133"/>
                </a:lnTo>
                <a:lnTo>
                  <a:pt x="1777355" y="1189624"/>
                </a:lnTo>
                <a:lnTo>
                  <a:pt x="1699460" y="1189624"/>
                </a:lnTo>
                <a:lnTo>
                  <a:pt x="1699460" y="0"/>
                </a:lnTo>
                <a:lnTo>
                  <a:pt x="0" y="0"/>
                </a:lnTo>
                <a:lnTo>
                  <a:pt x="0" y="1189624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51018" y="1543008"/>
            <a:ext cx="1904811" cy="1614487"/>
          </a:xfrm>
          <a:custGeom>
            <a:avLst/>
            <a:gdLst/>
            <a:ahLst/>
            <a:cxnLst/>
            <a:rect l="0" t="0" r="0" b="0"/>
            <a:pathLst>
              <a:path w="1904811" h="1614487">
                <a:moveTo>
                  <a:pt x="1699460" y="1104649"/>
                </a:moveTo>
                <a:lnTo>
                  <a:pt x="1699460" y="1189622"/>
                </a:lnTo>
                <a:lnTo>
                  <a:pt x="1777352" y="1189622"/>
                </a:lnTo>
                <a:lnTo>
                  <a:pt x="1777352" y="1147135"/>
                </a:lnTo>
                <a:lnTo>
                  <a:pt x="1904811" y="1274595"/>
                </a:lnTo>
                <a:lnTo>
                  <a:pt x="1777352" y="1402054"/>
                </a:lnTo>
                <a:lnTo>
                  <a:pt x="1777352" y="1359568"/>
                </a:lnTo>
                <a:lnTo>
                  <a:pt x="1699460" y="1359568"/>
                </a:lnTo>
                <a:lnTo>
                  <a:pt x="1699460" y="1614487"/>
                </a:lnTo>
                <a:lnTo>
                  <a:pt x="934703" y="1614487"/>
                </a:lnTo>
                <a:lnTo>
                  <a:pt x="764757" y="1614487"/>
                </a:lnTo>
                <a:lnTo>
                  <a:pt x="0" y="1614487"/>
                </a:lnTo>
                <a:lnTo>
                  <a:pt x="0" y="1359568"/>
                </a:lnTo>
                <a:lnTo>
                  <a:pt x="77891" y="1359568"/>
                </a:lnTo>
                <a:lnTo>
                  <a:pt x="77891" y="1402054"/>
                </a:lnTo>
                <a:lnTo>
                  <a:pt x="205351" y="1274595"/>
                </a:lnTo>
                <a:lnTo>
                  <a:pt x="77891" y="1147135"/>
                </a:lnTo>
                <a:lnTo>
                  <a:pt x="77891" y="1189622"/>
                </a:lnTo>
                <a:lnTo>
                  <a:pt x="0" y="1189622"/>
                </a:lnTo>
                <a:lnTo>
                  <a:pt x="0" y="1104649"/>
                </a:lnTo>
                <a:moveTo>
                  <a:pt x="1699460" y="1189622"/>
                </a:moveTo>
                <a:lnTo>
                  <a:pt x="1699460" y="0"/>
                </a:lnTo>
                <a:lnTo>
                  <a:pt x="0" y="0"/>
                </a:lnTo>
                <a:lnTo>
                  <a:pt x="0" y="1189622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0479" y="1543008"/>
            <a:ext cx="1699460" cy="1819836"/>
          </a:xfrm>
          <a:custGeom>
            <a:avLst/>
            <a:gdLst/>
            <a:ahLst/>
            <a:cxnLst/>
            <a:rect l="0" t="0" r="0" b="0"/>
            <a:pathLst>
              <a:path w="1699460" h="1819836">
                <a:moveTo>
                  <a:pt x="0" y="1189624"/>
                </a:moveTo>
                <a:lnTo>
                  <a:pt x="77895" y="1189624"/>
                </a:lnTo>
                <a:lnTo>
                  <a:pt x="77895" y="1147133"/>
                </a:lnTo>
                <a:lnTo>
                  <a:pt x="205349" y="1274597"/>
                </a:lnTo>
                <a:lnTo>
                  <a:pt x="77895" y="1402051"/>
                </a:lnTo>
                <a:lnTo>
                  <a:pt x="77895" y="1359569"/>
                </a:lnTo>
                <a:lnTo>
                  <a:pt x="0" y="1359569"/>
                </a:lnTo>
                <a:lnTo>
                  <a:pt x="0" y="1614487"/>
                </a:lnTo>
                <a:lnTo>
                  <a:pt x="764752" y="1614487"/>
                </a:lnTo>
                <a:lnTo>
                  <a:pt x="764752" y="1692382"/>
                </a:lnTo>
                <a:lnTo>
                  <a:pt x="722271" y="1692382"/>
                </a:lnTo>
                <a:lnTo>
                  <a:pt x="849734" y="1819836"/>
                </a:lnTo>
                <a:lnTo>
                  <a:pt x="977188" y="1692382"/>
                </a:lnTo>
                <a:lnTo>
                  <a:pt x="934707" y="1692382"/>
                </a:lnTo>
                <a:lnTo>
                  <a:pt x="934707" y="1614487"/>
                </a:lnTo>
                <a:lnTo>
                  <a:pt x="1699460" y="1614487"/>
                </a:lnTo>
                <a:lnTo>
                  <a:pt x="1699460" y="0"/>
                </a:lnTo>
                <a:lnTo>
                  <a:pt x="0" y="0"/>
                </a:lnTo>
                <a:lnTo>
                  <a:pt x="0" y="1189624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0479" y="1543008"/>
            <a:ext cx="1699460" cy="1819838"/>
          </a:xfrm>
          <a:custGeom>
            <a:avLst/>
            <a:gdLst/>
            <a:ahLst/>
            <a:cxnLst/>
            <a:rect l="0" t="0" r="0" b="0"/>
            <a:pathLst>
              <a:path w="1699460" h="1819838">
                <a:moveTo>
                  <a:pt x="1699460" y="1104649"/>
                </a:moveTo>
                <a:lnTo>
                  <a:pt x="1699460" y="1614487"/>
                </a:lnTo>
                <a:lnTo>
                  <a:pt x="934703" y="1614487"/>
                </a:lnTo>
                <a:lnTo>
                  <a:pt x="934703" y="1692379"/>
                </a:lnTo>
                <a:lnTo>
                  <a:pt x="977189" y="1692379"/>
                </a:lnTo>
                <a:lnTo>
                  <a:pt x="849730" y="1819838"/>
                </a:lnTo>
                <a:lnTo>
                  <a:pt x="722270" y="1692379"/>
                </a:lnTo>
                <a:lnTo>
                  <a:pt x="764757" y="1692379"/>
                </a:lnTo>
                <a:lnTo>
                  <a:pt x="764757" y="1614487"/>
                </a:lnTo>
                <a:lnTo>
                  <a:pt x="0" y="1614487"/>
                </a:lnTo>
                <a:lnTo>
                  <a:pt x="0" y="1359568"/>
                </a:lnTo>
                <a:lnTo>
                  <a:pt x="77891" y="1359568"/>
                </a:lnTo>
                <a:lnTo>
                  <a:pt x="77891" y="1402054"/>
                </a:lnTo>
                <a:lnTo>
                  <a:pt x="205351" y="1274595"/>
                </a:lnTo>
                <a:lnTo>
                  <a:pt x="77891" y="1147135"/>
                </a:lnTo>
                <a:lnTo>
                  <a:pt x="77891" y="1189622"/>
                </a:lnTo>
                <a:lnTo>
                  <a:pt x="0" y="1189622"/>
                </a:lnTo>
                <a:lnTo>
                  <a:pt x="0" y="1104649"/>
                </a:lnTo>
                <a:moveTo>
                  <a:pt x="1699460" y="1189622"/>
                </a:moveTo>
                <a:lnTo>
                  <a:pt x="1699460" y="0"/>
                </a:lnTo>
                <a:lnTo>
                  <a:pt x="0" y="0"/>
                </a:lnTo>
                <a:lnTo>
                  <a:pt x="0" y="1189622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51559" y="2952187"/>
            <a:ext cx="1699460" cy="1819836"/>
          </a:xfrm>
          <a:custGeom>
            <a:avLst/>
            <a:gdLst/>
            <a:ahLst/>
            <a:cxnLst/>
            <a:rect l="0" t="0" r="0" b="0"/>
            <a:pathLst>
              <a:path w="1699460" h="1819836">
                <a:moveTo>
                  <a:pt x="1699460" y="1819836"/>
                </a:moveTo>
                <a:lnTo>
                  <a:pt x="0" y="1819836"/>
                </a:lnTo>
                <a:lnTo>
                  <a:pt x="0" y="205349"/>
                </a:lnTo>
                <a:lnTo>
                  <a:pt x="764752" y="205349"/>
                </a:lnTo>
                <a:lnTo>
                  <a:pt x="764752" y="127454"/>
                </a:lnTo>
                <a:lnTo>
                  <a:pt x="722271" y="127454"/>
                </a:lnTo>
                <a:lnTo>
                  <a:pt x="849725" y="0"/>
                </a:lnTo>
                <a:lnTo>
                  <a:pt x="977188" y="127454"/>
                </a:lnTo>
                <a:lnTo>
                  <a:pt x="934707" y="127454"/>
                </a:lnTo>
                <a:lnTo>
                  <a:pt x="934707" y="205349"/>
                </a:lnTo>
                <a:lnTo>
                  <a:pt x="1699460" y="205349"/>
                </a:lnTo>
                <a:lnTo>
                  <a:pt x="1699460" y="460267"/>
                </a:lnTo>
                <a:lnTo>
                  <a:pt x="1621564" y="460267"/>
                </a:lnTo>
                <a:lnTo>
                  <a:pt x="1621564" y="417785"/>
                </a:lnTo>
                <a:lnTo>
                  <a:pt x="1494110" y="545239"/>
                </a:lnTo>
                <a:lnTo>
                  <a:pt x="1621564" y="672703"/>
                </a:lnTo>
                <a:lnTo>
                  <a:pt x="1621564" y="630212"/>
                </a:lnTo>
                <a:lnTo>
                  <a:pt x="1699460" y="630212"/>
                </a:lnTo>
                <a:lnTo>
                  <a:pt x="1699460" y="1819836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51559" y="2952186"/>
            <a:ext cx="1699460" cy="1819838"/>
          </a:xfrm>
          <a:custGeom>
            <a:avLst/>
            <a:gdLst/>
            <a:ahLst/>
            <a:cxnLst/>
            <a:rect l="0" t="0" r="0" b="0"/>
            <a:pathLst>
              <a:path w="1699460" h="1819838">
                <a:moveTo>
                  <a:pt x="1699460" y="715189"/>
                </a:moveTo>
                <a:lnTo>
                  <a:pt x="1699460" y="630216"/>
                </a:lnTo>
                <a:lnTo>
                  <a:pt x="1621568" y="630216"/>
                </a:lnTo>
                <a:lnTo>
                  <a:pt x="1621568" y="672703"/>
                </a:lnTo>
                <a:lnTo>
                  <a:pt x="1494108" y="545243"/>
                </a:lnTo>
                <a:lnTo>
                  <a:pt x="1621568" y="417784"/>
                </a:lnTo>
                <a:lnTo>
                  <a:pt x="1621568" y="460270"/>
                </a:lnTo>
                <a:lnTo>
                  <a:pt x="1699460" y="460270"/>
                </a:lnTo>
                <a:lnTo>
                  <a:pt x="1699460" y="205351"/>
                </a:lnTo>
                <a:lnTo>
                  <a:pt x="934703" y="205351"/>
                </a:lnTo>
                <a:lnTo>
                  <a:pt x="934703" y="127459"/>
                </a:lnTo>
                <a:lnTo>
                  <a:pt x="977189" y="127459"/>
                </a:lnTo>
                <a:lnTo>
                  <a:pt x="849730" y="0"/>
                </a:lnTo>
                <a:lnTo>
                  <a:pt x="722270" y="127459"/>
                </a:lnTo>
                <a:lnTo>
                  <a:pt x="764757" y="127459"/>
                </a:lnTo>
                <a:lnTo>
                  <a:pt x="764757" y="205351"/>
                </a:lnTo>
                <a:lnTo>
                  <a:pt x="0" y="205351"/>
                </a:lnTo>
                <a:lnTo>
                  <a:pt x="0" y="715189"/>
                </a:lnTo>
                <a:moveTo>
                  <a:pt x="1699460" y="715189"/>
                </a:moveTo>
                <a:lnTo>
                  <a:pt x="1699460" y="1394973"/>
                </a:lnTo>
                <a:moveTo>
                  <a:pt x="0" y="1394973"/>
                </a:moveTo>
                <a:lnTo>
                  <a:pt x="0" y="715189"/>
                </a:lnTo>
                <a:moveTo>
                  <a:pt x="1699460" y="1394973"/>
                </a:moveTo>
                <a:lnTo>
                  <a:pt x="1699460" y="1819838"/>
                </a:lnTo>
                <a:lnTo>
                  <a:pt x="0" y="1819838"/>
                </a:lnTo>
                <a:lnTo>
                  <a:pt x="0" y="1394973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45667" y="3157537"/>
            <a:ext cx="1904809" cy="1614487"/>
          </a:xfrm>
          <a:custGeom>
            <a:avLst/>
            <a:gdLst/>
            <a:ahLst/>
            <a:cxnLst/>
            <a:rect l="0" t="0" r="0" b="0"/>
            <a:pathLst>
              <a:path w="1904809" h="1614487">
                <a:moveTo>
                  <a:pt x="1904809" y="1614487"/>
                </a:moveTo>
                <a:lnTo>
                  <a:pt x="205349" y="1614487"/>
                </a:lnTo>
                <a:lnTo>
                  <a:pt x="205349" y="424862"/>
                </a:lnTo>
                <a:lnTo>
                  <a:pt x="127463" y="424862"/>
                </a:lnTo>
                <a:lnTo>
                  <a:pt x="127463" y="467353"/>
                </a:lnTo>
                <a:lnTo>
                  <a:pt x="0" y="339890"/>
                </a:lnTo>
                <a:lnTo>
                  <a:pt x="127463" y="212436"/>
                </a:lnTo>
                <a:lnTo>
                  <a:pt x="127463" y="254917"/>
                </a:lnTo>
                <a:lnTo>
                  <a:pt x="205349" y="254917"/>
                </a:lnTo>
                <a:lnTo>
                  <a:pt x="205349" y="0"/>
                </a:lnTo>
                <a:lnTo>
                  <a:pt x="1904809" y="0"/>
                </a:lnTo>
                <a:lnTo>
                  <a:pt x="1904809" y="254917"/>
                </a:lnTo>
                <a:lnTo>
                  <a:pt x="1826923" y="254917"/>
                </a:lnTo>
                <a:lnTo>
                  <a:pt x="1826923" y="212436"/>
                </a:lnTo>
                <a:lnTo>
                  <a:pt x="1699460" y="339890"/>
                </a:lnTo>
                <a:lnTo>
                  <a:pt x="1826923" y="467353"/>
                </a:lnTo>
                <a:lnTo>
                  <a:pt x="1826923" y="424862"/>
                </a:lnTo>
                <a:lnTo>
                  <a:pt x="1904809" y="424862"/>
                </a:lnTo>
                <a:lnTo>
                  <a:pt x="1904809" y="1614487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45667" y="3157537"/>
            <a:ext cx="1904812" cy="1614487"/>
          </a:xfrm>
          <a:custGeom>
            <a:avLst/>
            <a:gdLst/>
            <a:ahLst/>
            <a:cxnLst/>
            <a:rect l="0" t="0" r="0" b="0"/>
            <a:pathLst>
              <a:path w="1904812" h="1614487">
                <a:moveTo>
                  <a:pt x="205351" y="509838"/>
                </a:moveTo>
                <a:lnTo>
                  <a:pt x="205351" y="424865"/>
                </a:lnTo>
                <a:lnTo>
                  <a:pt x="127459" y="424865"/>
                </a:lnTo>
                <a:lnTo>
                  <a:pt x="127459" y="467351"/>
                </a:lnTo>
                <a:lnTo>
                  <a:pt x="0" y="339892"/>
                </a:lnTo>
                <a:lnTo>
                  <a:pt x="127459" y="212432"/>
                </a:lnTo>
                <a:lnTo>
                  <a:pt x="127459" y="254919"/>
                </a:lnTo>
                <a:lnTo>
                  <a:pt x="205351" y="254919"/>
                </a:lnTo>
                <a:lnTo>
                  <a:pt x="205351" y="0"/>
                </a:lnTo>
                <a:lnTo>
                  <a:pt x="1904811" y="0"/>
                </a:lnTo>
                <a:lnTo>
                  <a:pt x="1904811" y="254919"/>
                </a:lnTo>
                <a:lnTo>
                  <a:pt x="1826919" y="254919"/>
                </a:lnTo>
                <a:lnTo>
                  <a:pt x="1826919" y="212432"/>
                </a:lnTo>
                <a:lnTo>
                  <a:pt x="1699460" y="339892"/>
                </a:lnTo>
                <a:lnTo>
                  <a:pt x="1826919" y="467351"/>
                </a:lnTo>
                <a:lnTo>
                  <a:pt x="1826919" y="424865"/>
                </a:lnTo>
                <a:lnTo>
                  <a:pt x="1904811" y="424865"/>
                </a:lnTo>
                <a:lnTo>
                  <a:pt x="1904811" y="509838"/>
                </a:lnTo>
                <a:moveTo>
                  <a:pt x="1904812" y="509838"/>
                </a:moveTo>
                <a:lnTo>
                  <a:pt x="1904812" y="1189622"/>
                </a:lnTo>
                <a:moveTo>
                  <a:pt x="205351" y="1189622"/>
                </a:moveTo>
                <a:lnTo>
                  <a:pt x="205351" y="509838"/>
                </a:lnTo>
                <a:moveTo>
                  <a:pt x="1904812" y="1189622"/>
                </a:moveTo>
                <a:lnTo>
                  <a:pt x="1904812" y="1614487"/>
                </a:lnTo>
                <a:lnTo>
                  <a:pt x="205351" y="1614487"/>
                </a:lnTo>
                <a:lnTo>
                  <a:pt x="205351" y="1189622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45128" y="3157537"/>
            <a:ext cx="1904809" cy="1614487"/>
          </a:xfrm>
          <a:custGeom>
            <a:avLst/>
            <a:gdLst/>
            <a:ahLst/>
            <a:cxnLst/>
            <a:rect l="0" t="0" r="0" b="0"/>
            <a:pathLst>
              <a:path w="1904809" h="1614487">
                <a:moveTo>
                  <a:pt x="1904809" y="1614487"/>
                </a:moveTo>
                <a:lnTo>
                  <a:pt x="205349" y="1614487"/>
                </a:lnTo>
                <a:lnTo>
                  <a:pt x="205349" y="424862"/>
                </a:lnTo>
                <a:lnTo>
                  <a:pt x="127463" y="424862"/>
                </a:lnTo>
                <a:lnTo>
                  <a:pt x="127463" y="467353"/>
                </a:lnTo>
                <a:lnTo>
                  <a:pt x="0" y="339890"/>
                </a:lnTo>
                <a:lnTo>
                  <a:pt x="127463" y="212436"/>
                </a:lnTo>
                <a:lnTo>
                  <a:pt x="127463" y="254917"/>
                </a:lnTo>
                <a:lnTo>
                  <a:pt x="205349" y="254917"/>
                </a:lnTo>
                <a:lnTo>
                  <a:pt x="205349" y="0"/>
                </a:lnTo>
                <a:lnTo>
                  <a:pt x="970111" y="0"/>
                </a:lnTo>
                <a:lnTo>
                  <a:pt x="970111" y="77895"/>
                </a:lnTo>
                <a:lnTo>
                  <a:pt x="927620" y="77895"/>
                </a:lnTo>
                <a:lnTo>
                  <a:pt x="1055084" y="205349"/>
                </a:lnTo>
                <a:lnTo>
                  <a:pt x="1182538" y="77895"/>
                </a:lnTo>
                <a:lnTo>
                  <a:pt x="1140056" y="77895"/>
                </a:lnTo>
                <a:lnTo>
                  <a:pt x="1140056" y="0"/>
                </a:lnTo>
                <a:lnTo>
                  <a:pt x="1904809" y="0"/>
                </a:lnTo>
                <a:lnTo>
                  <a:pt x="1904809" y="1614487"/>
                </a:lnTo>
              </a:path>
            </a:pathLst>
          </a:custGeom>
          <a:solidFill>
            <a:srgbClr val="0D111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45128" y="3157537"/>
            <a:ext cx="1904812" cy="1614487"/>
          </a:xfrm>
          <a:custGeom>
            <a:avLst/>
            <a:gdLst/>
            <a:ahLst/>
            <a:cxnLst/>
            <a:rect l="0" t="0" r="0" b="0"/>
            <a:pathLst>
              <a:path w="1904812" h="1614487">
                <a:moveTo>
                  <a:pt x="1904812" y="1104649"/>
                </a:moveTo>
                <a:lnTo>
                  <a:pt x="1904812" y="1614487"/>
                </a:lnTo>
                <a:lnTo>
                  <a:pt x="205351" y="1614487"/>
                </a:lnTo>
                <a:lnTo>
                  <a:pt x="205351" y="1104649"/>
                </a:lnTo>
                <a:moveTo>
                  <a:pt x="1904812" y="509838"/>
                </a:moveTo>
                <a:lnTo>
                  <a:pt x="1904812" y="0"/>
                </a:lnTo>
                <a:lnTo>
                  <a:pt x="1140054" y="0"/>
                </a:lnTo>
                <a:lnTo>
                  <a:pt x="1140054" y="77891"/>
                </a:lnTo>
                <a:lnTo>
                  <a:pt x="1182541" y="77891"/>
                </a:lnTo>
                <a:lnTo>
                  <a:pt x="1055081" y="205351"/>
                </a:lnTo>
                <a:lnTo>
                  <a:pt x="927622" y="77891"/>
                </a:lnTo>
                <a:lnTo>
                  <a:pt x="970108" y="77891"/>
                </a:lnTo>
                <a:lnTo>
                  <a:pt x="970108" y="0"/>
                </a:lnTo>
                <a:lnTo>
                  <a:pt x="205351" y="0"/>
                </a:lnTo>
                <a:lnTo>
                  <a:pt x="205351" y="254919"/>
                </a:lnTo>
                <a:lnTo>
                  <a:pt x="127459" y="254919"/>
                </a:lnTo>
                <a:lnTo>
                  <a:pt x="127459" y="212432"/>
                </a:lnTo>
                <a:lnTo>
                  <a:pt x="0" y="339892"/>
                </a:lnTo>
                <a:lnTo>
                  <a:pt x="127459" y="467351"/>
                </a:lnTo>
                <a:lnTo>
                  <a:pt x="127459" y="424865"/>
                </a:lnTo>
                <a:lnTo>
                  <a:pt x="205351" y="424865"/>
                </a:lnTo>
                <a:lnTo>
                  <a:pt x="205351" y="509838"/>
                </a:lnTo>
                <a:moveTo>
                  <a:pt x="1904812" y="1189622"/>
                </a:moveTo>
                <a:lnTo>
                  <a:pt x="1904812" y="509838"/>
                </a:lnTo>
                <a:moveTo>
                  <a:pt x="205351" y="1189622"/>
                </a:moveTo>
                <a:lnTo>
                  <a:pt x="205351" y="509838"/>
                </a:lnTo>
              </a:path>
            </a:pathLst>
          </a:custGeom>
          <a:noFill/>
          <a:ln w="10622">
            <a:solidFill>
              <a:srgbClr val="F2F5F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19092" y="1797926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3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725528" y="2052844"/>
            <a:ext cx="909637" cy="339909"/>
            <a:chOff x="3725528" y="2052844"/>
            <a:chExt cx="909637" cy="339909"/>
          </a:xfrm>
        </p:grpSpPr>
        <p:sp>
          <p:nvSpPr>
            <p:cNvPr id="15" name="TextBox 14"/>
            <p:cNvSpPr txBox="1"/>
            <p:nvPr/>
          </p:nvSpPr>
          <p:spPr>
            <a:xfrm>
              <a:off x="3725528" y="2052844"/>
              <a:ext cx="1046082" cy="169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Product Data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25528" y="2222770"/>
              <a:ext cx="1046082" cy="169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Input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24988" y="2052843"/>
            <a:ext cx="809625" cy="509872"/>
            <a:chOff x="5424988" y="2052843"/>
            <a:chExt cx="809625" cy="509872"/>
          </a:xfrm>
        </p:grpSpPr>
        <p:sp>
          <p:nvSpPr>
            <p:cNvPr id="18" name="TextBox 17"/>
            <p:cNvSpPr txBox="1"/>
            <p:nvPr/>
          </p:nvSpPr>
          <p:spPr>
            <a:xfrm>
              <a:off x="5424988" y="2052843"/>
              <a:ext cx="931068" cy="169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Fixture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24988" y="2222769"/>
              <a:ext cx="931068" cy="169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Component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24988" y="2392695"/>
              <a:ext cx="931068" cy="17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Creation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124449" y="2052844"/>
            <a:ext cx="1104900" cy="339909"/>
            <a:chOff x="7124449" y="2052844"/>
            <a:chExt cx="1104900" cy="339909"/>
          </a:xfrm>
        </p:grpSpPr>
        <p:sp>
          <p:nvSpPr>
            <p:cNvPr id="22" name="TextBox 21"/>
            <p:cNvSpPr txBox="1"/>
            <p:nvPr/>
          </p:nvSpPr>
          <p:spPr>
            <a:xfrm>
              <a:off x="7124449" y="2052844"/>
              <a:ext cx="1270635" cy="169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Room Geometry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24449" y="2222770"/>
              <a:ext cx="1270635" cy="169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Construction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90525" y="2348047"/>
            <a:ext cx="2333625" cy="685800"/>
            <a:chOff x="390525" y="2348047"/>
            <a:chExt cx="2333625" cy="685800"/>
          </a:xfrm>
        </p:grpSpPr>
        <p:sp>
          <p:nvSpPr>
            <p:cNvPr id="25" name="TextBox 24"/>
            <p:cNvSpPr txBox="1"/>
            <p:nvPr/>
          </p:nvSpPr>
          <p:spPr>
            <a:xfrm>
              <a:off x="390525" y="2348047"/>
              <a:ext cx="26836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Dynamic scene construction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2576647"/>
              <a:ext cx="26836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using React Three Fiber 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525" y="2805247"/>
              <a:ext cx="26836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Three.js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25528" y="2477728"/>
            <a:ext cx="1023937" cy="254926"/>
            <a:chOff x="3725528" y="2477728"/>
            <a:chExt cx="1023937" cy="254926"/>
          </a:xfrm>
        </p:grpSpPr>
        <p:sp>
          <p:nvSpPr>
            <p:cNvPr id="29" name="TextBox 28"/>
            <p:cNvSpPr txBox="1"/>
            <p:nvPr/>
          </p:nvSpPr>
          <p:spPr>
            <a:xfrm>
              <a:off x="3725528" y="2477728"/>
              <a:ext cx="1177527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Gathering product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25528" y="2605172"/>
              <a:ext cx="1177527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information for design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124449" y="2477728"/>
            <a:ext cx="1109662" cy="254926"/>
            <a:chOff x="7124449" y="2477728"/>
            <a:chExt cx="1109662" cy="254926"/>
          </a:xfrm>
        </p:grpSpPr>
        <p:sp>
          <p:nvSpPr>
            <p:cNvPr id="32" name="TextBox 31"/>
            <p:cNvSpPr txBox="1"/>
            <p:nvPr/>
          </p:nvSpPr>
          <p:spPr>
            <a:xfrm>
              <a:off x="7124449" y="2477728"/>
              <a:ext cx="1276111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Defining the bathroom's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4449" y="2605172"/>
              <a:ext cx="1276111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layout and structure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424988" y="2647690"/>
            <a:ext cx="1028700" cy="254926"/>
            <a:chOff x="5424988" y="2647690"/>
            <a:chExt cx="1028700" cy="254926"/>
          </a:xfrm>
        </p:grpSpPr>
        <p:sp>
          <p:nvSpPr>
            <p:cNvPr id="35" name="TextBox 34"/>
            <p:cNvSpPr txBox="1"/>
            <p:nvPr/>
          </p:nvSpPr>
          <p:spPr>
            <a:xfrm>
              <a:off x="5424988" y="2647690"/>
              <a:ext cx="1183005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Building 3D models of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24988" y="2775134"/>
              <a:ext cx="1183005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bathroom fixtures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5419631" y="1797926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0171" y="1797926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1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390525" y="3205295"/>
            <a:ext cx="2452687" cy="761732"/>
            <a:chOff x="390525" y="3205295"/>
            <a:chExt cx="2452687" cy="761732"/>
          </a:xfrm>
        </p:grpSpPr>
        <p:sp>
          <p:nvSpPr>
            <p:cNvPr id="40" name="TextBox 39"/>
            <p:cNvSpPr txBox="1"/>
            <p:nvPr/>
          </p:nvSpPr>
          <p:spPr>
            <a:xfrm>
              <a:off x="390525" y="3205295"/>
              <a:ext cx="282059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Current implementation uses heuristic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525" y="3395795"/>
              <a:ext cx="2820590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placement; production would require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0525" y="3586199"/>
              <a:ext cx="2820590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CAD-grade collision and plumbing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0525" y="3776604"/>
              <a:ext cx="2820590" cy="190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0D1116"/>
                  </a:solidFill>
                  <a:latin typeface="Roboto"/>
                </a:rPr>
                <a:t>validation.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3720171" y="3412455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9631" y="3412455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5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390525" y="371475"/>
            <a:ext cx="7781925" cy="800100"/>
            <a:chOff x="390525" y="371475"/>
            <a:chExt cx="7781925" cy="800100"/>
          </a:xfrm>
        </p:grpSpPr>
        <p:sp>
          <p:nvSpPr>
            <p:cNvPr id="47" name="TextBox 46"/>
            <p:cNvSpPr txBox="1"/>
            <p:nvPr/>
          </p:nvSpPr>
          <p:spPr>
            <a:xfrm>
              <a:off x="390525" y="371475"/>
              <a:ext cx="89492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From Recommendation to Interactive 3D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0525" y="771525"/>
              <a:ext cx="89492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Bathroom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725528" y="3667373"/>
            <a:ext cx="785812" cy="339909"/>
            <a:chOff x="3725528" y="3667373"/>
            <a:chExt cx="785812" cy="339909"/>
          </a:xfrm>
        </p:grpSpPr>
        <p:sp>
          <p:nvSpPr>
            <p:cNvPr id="50" name="TextBox 49"/>
            <p:cNvSpPr txBox="1"/>
            <p:nvPr/>
          </p:nvSpPr>
          <p:spPr>
            <a:xfrm>
              <a:off x="3725528" y="3667373"/>
              <a:ext cx="903683" cy="169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Interactive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25528" y="3837299"/>
              <a:ext cx="903683" cy="169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Exploration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424988" y="3667373"/>
            <a:ext cx="700087" cy="339909"/>
            <a:chOff x="5424988" y="3667373"/>
            <a:chExt cx="700087" cy="339909"/>
          </a:xfrm>
        </p:grpSpPr>
        <p:sp>
          <p:nvSpPr>
            <p:cNvPr id="53" name="TextBox 52"/>
            <p:cNvSpPr txBox="1"/>
            <p:nvPr/>
          </p:nvSpPr>
          <p:spPr>
            <a:xfrm>
              <a:off x="5424988" y="3667373"/>
              <a:ext cx="805100" cy="169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WebGL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24988" y="3837299"/>
              <a:ext cx="805100" cy="169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Rendering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7124449" y="3667372"/>
            <a:ext cx="895350" cy="509872"/>
            <a:chOff x="7124449" y="3667372"/>
            <a:chExt cx="895350" cy="509872"/>
          </a:xfrm>
        </p:grpSpPr>
        <p:sp>
          <p:nvSpPr>
            <p:cNvPr id="56" name="TextBox 55"/>
            <p:cNvSpPr txBox="1"/>
            <p:nvPr/>
          </p:nvSpPr>
          <p:spPr>
            <a:xfrm>
              <a:off x="7124449" y="3667372"/>
              <a:ext cx="1029652" cy="169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Material and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124449" y="3837298"/>
              <a:ext cx="1029652" cy="169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Lighting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124449" y="4007224"/>
              <a:ext cx="1029652" cy="17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355D6"/>
                  </a:solidFill>
                  <a:latin typeface="STIX Two Text"/>
                </a:rPr>
                <a:t>Application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725528" y="4092257"/>
            <a:ext cx="1133475" cy="254926"/>
            <a:chOff x="3725528" y="4092257"/>
            <a:chExt cx="1133475" cy="254926"/>
          </a:xfrm>
        </p:grpSpPr>
        <p:sp>
          <p:nvSpPr>
            <p:cNvPr id="60" name="TextBox 59"/>
            <p:cNvSpPr txBox="1"/>
            <p:nvPr/>
          </p:nvSpPr>
          <p:spPr>
            <a:xfrm>
              <a:off x="3725528" y="4092257"/>
              <a:ext cx="1303496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Allowing users to rotate,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725528" y="4219701"/>
              <a:ext cx="1303496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zoom, and inspect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24988" y="4092257"/>
            <a:ext cx="985837" cy="254926"/>
            <a:chOff x="5424988" y="4092257"/>
            <a:chExt cx="985837" cy="254926"/>
          </a:xfrm>
        </p:grpSpPr>
        <p:sp>
          <p:nvSpPr>
            <p:cNvPr id="63" name="TextBox 62"/>
            <p:cNvSpPr txBox="1"/>
            <p:nvPr/>
          </p:nvSpPr>
          <p:spPr>
            <a:xfrm>
              <a:off x="5424988" y="4092257"/>
              <a:ext cx="1133712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Displaying the 3D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424988" y="4219701"/>
              <a:ext cx="1133712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bathroom on the web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7124449" y="4262219"/>
            <a:ext cx="1128712" cy="254926"/>
            <a:chOff x="7124449" y="4262219"/>
            <a:chExt cx="1128712" cy="254926"/>
          </a:xfrm>
        </p:grpSpPr>
        <p:sp>
          <p:nvSpPr>
            <p:cNvPr id="66" name="TextBox 65"/>
            <p:cNvSpPr txBox="1"/>
            <p:nvPr/>
          </p:nvSpPr>
          <p:spPr>
            <a:xfrm>
              <a:off x="7124449" y="4262219"/>
              <a:ext cx="1298018" cy="127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Adding realistic textures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24449" y="4389663"/>
              <a:ext cx="1298018" cy="127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ACBDCD"/>
                  </a:solidFill>
                  <a:latin typeface="Roboto"/>
                </a:rPr>
                <a:t>and lighting effects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7119092" y="3412455"/>
            <a:ext cx="82152" cy="169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355D6"/>
                </a:solidFill>
                <a:latin typeface="STIX Two Text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7225" cy="313372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857750" y="1381125"/>
            <a:ext cx="3481387" cy="1200150"/>
            <a:chOff x="4857750" y="1381125"/>
            <a:chExt cx="3481387" cy="1200150"/>
          </a:xfrm>
        </p:grpSpPr>
        <p:sp>
          <p:nvSpPr>
            <p:cNvPr id="3" name="TextBox 2"/>
            <p:cNvSpPr txBox="1"/>
            <p:nvPr/>
          </p:nvSpPr>
          <p:spPr>
            <a:xfrm>
              <a:off x="4857750" y="1381125"/>
              <a:ext cx="400359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Natural-Language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57750" y="1781175"/>
              <a:ext cx="400359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Refinement &amp;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7750" y="2181225"/>
              <a:ext cx="400359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0D1116"/>
                  </a:solidFill>
                  <a:latin typeface="STIX Two Text"/>
                </a:rPr>
                <a:t>Future Scope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57750" y="2676525"/>
            <a:ext cx="3676650" cy="457200"/>
            <a:chOff x="4857750" y="2676525"/>
            <a:chExt cx="3676650" cy="457200"/>
          </a:xfrm>
        </p:grpSpPr>
        <p:sp>
          <p:nvSpPr>
            <p:cNvPr id="7" name="TextBox 6"/>
            <p:cNvSpPr txBox="1"/>
            <p:nvPr/>
          </p:nvSpPr>
          <p:spPr>
            <a:xfrm>
              <a:off x="4857750" y="2676525"/>
              <a:ext cx="4228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Mapping rule-based intent to parameters 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57750" y="2905125"/>
              <a:ext cx="4228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0D1116"/>
                  </a:solidFill>
                  <a:latin typeface="STIX Two Text"/>
                </a:rPr>
                <a:t>scaling for production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90525" y="3600450"/>
            <a:ext cx="1330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D1116"/>
                </a:solidFill>
                <a:latin typeface="STIX Two Text"/>
              </a:rPr>
              <a:t>Current 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650" y="3600450"/>
            <a:ext cx="1873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D1116"/>
                </a:solidFill>
                <a:latin typeface="STIX Two Text"/>
              </a:rPr>
              <a:t>Current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600450"/>
            <a:ext cx="1911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D1116"/>
                </a:solidFill>
                <a:latin typeface="STIX Two Text"/>
              </a:rPr>
              <a:t>Future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600450"/>
            <a:ext cx="1095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D1116"/>
                </a:solidFill>
                <a:latin typeface="STIX Two Text"/>
              </a:rPr>
              <a:t>Final Loop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90525" y="3914775"/>
            <a:ext cx="1900237" cy="762000"/>
            <a:chOff x="390525" y="3914775"/>
            <a:chExt cx="1900237" cy="762000"/>
          </a:xfrm>
        </p:grpSpPr>
        <p:sp>
          <p:nvSpPr>
            <p:cNvPr id="14" name="TextBox 13"/>
            <p:cNvSpPr txBox="1"/>
            <p:nvPr/>
          </p:nvSpPr>
          <p:spPr>
            <a:xfrm>
              <a:off x="390525" y="3914775"/>
              <a:ext cx="21852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Rule-based parser mapping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525" y="4105275"/>
              <a:ext cx="21852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phrases (e.g., "more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4295775"/>
              <a:ext cx="21852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luxurious") to parameter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4486275"/>
              <a:ext cx="21852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weights.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533650" y="3914775"/>
            <a:ext cx="1924050" cy="571500"/>
            <a:chOff x="2533650" y="3914775"/>
            <a:chExt cx="1924050" cy="571500"/>
          </a:xfrm>
        </p:grpSpPr>
        <p:sp>
          <p:nvSpPr>
            <p:cNvPr id="19" name="TextBox 18"/>
            <p:cNvSpPr txBox="1"/>
            <p:nvPr/>
          </p:nvSpPr>
          <p:spPr>
            <a:xfrm>
              <a:off x="2533650" y="3914775"/>
              <a:ext cx="22126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Local catalog, client-side JS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33650" y="4105275"/>
              <a:ext cx="22126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optimization, and Three.js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33650" y="4295775"/>
              <a:ext cx="22126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visualization.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676775" y="3914775"/>
            <a:ext cx="1905000" cy="762000"/>
            <a:chOff x="4676775" y="3914775"/>
            <a:chExt cx="1905000" cy="762000"/>
          </a:xfrm>
        </p:grpSpPr>
        <p:sp>
          <p:nvSpPr>
            <p:cNvPr id="23" name="TextBox 22"/>
            <p:cNvSpPr txBox="1"/>
            <p:nvPr/>
          </p:nvSpPr>
          <p:spPr>
            <a:xfrm>
              <a:off x="4676775" y="3914775"/>
              <a:ext cx="2190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Real KOHLER API, LLM-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76775" y="4105275"/>
              <a:ext cx="2190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based intent extraction, and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76775" y="4295775"/>
              <a:ext cx="2190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backend geometric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676775" y="4486275"/>
              <a:ext cx="2190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validation.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819900" y="3914775"/>
            <a:ext cx="1909762" cy="762000"/>
            <a:chOff x="6819900" y="3914775"/>
            <a:chExt cx="1909762" cy="762000"/>
          </a:xfrm>
        </p:grpSpPr>
        <p:sp>
          <p:nvSpPr>
            <p:cNvPr id="28" name="TextBox 27"/>
            <p:cNvSpPr txBox="1"/>
            <p:nvPr/>
          </p:nvSpPr>
          <p:spPr>
            <a:xfrm>
              <a:off x="6819900" y="3914775"/>
              <a:ext cx="2196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User → Intent →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19900" y="4105275"/>
              <a:ext cx="2196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Constraints → Optimization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19900" y="4295775"/>
              <a:ext cx="2196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→ 3D Visualization 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19900" y="4486275"/>
              <a:ext cx="2196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0D1116"/>
                  </a:solidFill>
                  <a:latin typeface="Roboto"/>
                </a:rPr>
                <a:t>Refinement.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446</Words>
  <Application>Microsoft Office PowerPoint</Application>
  <PresentationFormat>On-screen Show (16:9)</PresentationFormat>
  <Paragraphs>165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Arial</vt:lpstr>
      <vt:lpstr>STIX Two Text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Prachi</dc:creator>
  <cp:keywords/>
  <dc:description>generated using python-pptx</dc:description>
  <cp:lastModifiedBy>Prachi Dadlani</cp:lastModifiedBy>
  <cp:revision>2</cp:revision>
  <dcterms:created xsi:type="dcterms:W3CDTF">2013-01-27T09:14:16Z</dcterms:created>
  <dcterms:modified xsi:type="dcterms:W3CDTF">2026-09-21T21:54:07Z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